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EgoQuant is a wealth-advisory agent built on one rule: every number that matters comes from deterministic, tested code, and the AI only explains. In ten minutes I will show the journey an investor takes, the safety design behind it, what we measured, and what we did not build. Everything I say names a file, a test or a measured number in our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retail investor cannot judge whether a portfolio is suitable, cannot see why it looks the way it does, and cannot prove later what they were told. EgoQuant answers each of these with a promise: Fit, the portfolio is suitable for this person; Proof, every number has a reason, a source and an independent check; Trace, what we advised can be shown unchanged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rule behind everything you will see. Scores, categories, limits, weights, approvals and trade verdicts are code. The language model explains results it is given; it can run the real engine through two whitelisted tools, but it cannot invent a number, because every number it says is checked against the engine's facts. The one exception, the news-tone label, is labelled as such and never touches a number. And an independent Risk Engine re-checks the finished portfolio from scratch and fails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journey takes about ten minutes. A validated questionnaire gives the risk category and its limits. A short Risk Game adds behaviour. The investor picks what they would like to hold, and only what their category allows can be ticked, with the reason shown for everything else. The portfolio is built on real prices and approved by the Risk Engine, with the chance of reaching the goal shown as N in 100 simulated futures. Finally the plan is reviewed, confirmed and sealed, and anyone can verify the sealed report later. LIVE DEMO (30 seconds, no sign-in): open www.egoquant.app/verify, press Use the demo report (Unchanged, Sealed for demo_investor, block 11,951,549), then Try a tampered copy (Does not match). If asked for an operation log: the dated deploy-check file in the evidence folder (71 of 71 checks on the live service, 20 Oct) and the fourteen-investor run log (30 builds, 26 trade checks, 14 what-ifs, 0 rule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Suitability asks for the more cautious of willing and able, so the category is the lower of the two. Attitude is measured with Grable and Lytton's published scale, quoted word for word, blended two thirds with one third from the Risk Game. Knowledge, from Lusardi and Mitchell's Big Three, gates complex products but never changes the category. Capacity averages four answers, with two hard caps: money that must come back, and a short horizon. The numbers behind each category are our provisional placeholders, kept in one file so a bank can replace them, and every report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several agents rather than one prompt? Separation of duties. Each part does one job in deterministic, tested code: market data, portfolio construction, behaviour, and the final check. Agent C builds the allowed universe and prices it with real data. Agent A builds about a hundred candidates inside every hard limit and simulates the goal. Agent B reads real behaviour and can only tighten. The Risk Engine does not trust the optimiser: it re-computes everything and fails closed. The news briefing and the advisor sit beside the numbers and never change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people say and what they do differ. The Risk Game gives everyone a behavioural signal, bounded to one third of the attitude and never past the capacity cap. A real trade history is stronger evidence and can only tighten. In the demo, an invented account that sold in two market falls moves the loss limit from twenty to under nine percent and the stock share from twenty-three to eight percent, and the Limits tab shows exactly where that line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say how likely a goal is, we replay the past: ten thousand futures stitched from real months of market history, with a regime model deciding which kind of month comes next so that crises last as long as they did. Two corrections keep history's luck out: today's interest rates for bonds and cash, and a hindsight correction for stocks. We ran a calibration backtest on our own method. It beats the plain bootstrap over all dates, but the gain on later dates is within the noise, and realised outcomes can differ from the simulated chance by tens of points. That is why the product says simulated and never probable.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advisor is fenced in. It can run the real engine through two whitelisted tools, but it has no write path to any score, limit or verdict. Every number it says must come from the engine's facts or the user's own words, or the reply is regenerated and then replaced by a safe fallback. Personal data is replaced by placeholders before any model call, and a compliance guard withholds anything that reads like a trade instruction or a forecast. We ran the live red-team on the final version today: 41 of 42 cases and 51 of 51 trade explanations pass. The first run found a real bug in the chat's trade tool, which we fixed within the hour and re-ran; the one remaining flag is a false alarm of our own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thirty percent of the score, so here is what we measured. Three and a half thousand automatic tests, 3,554 on the submitted version, with hostile-input suites, property sweeps and mutation checks where we broke the code on purpose to see the tests fail. A read-only deploy check passes seventy-one of seventy-one on the live service. The dependency audit found nothing. And we list twenty-eight known gaps with owners, next to a threat table, because a limit that is written down can be defended. Users are isolated by Row-Level Security with no privileged key anywhere; data is minimal, expires, and can be erased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needs a trace. When a plan is confirmed, we fingerprint the exact report the person saw, together with a record of the advice, and publish only that fingerprint on a public test chain. Anyone can later check the downloaded report on the Verify page without an account: change one number and it fails. These are real transactions; the block numbers are on the slide and every seal is listed with its link. We are precise about what it proves, that this report existed unchanged for this person, and what it does not: that the advice was right. The same format would move to a consortium chain such as FISCO BCOS.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say what is not done. EgoQuant is a prototype, not a regulated service; its limits are placeholders. The Risk Game is not psychometrically validated, so it is bounded. The simulation is not a probability. The data is a snapshot accepted for the competition only. It is English only, one broker only, on a test network, and without an external penetration test. The roadmap follows directly: institutional calibration, validation of the game, licensed data, a consortium chain, Chinese-language advice and assurance.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try everything yourself. Two minutes without an account on the Verify page, ten minutes with the demo account through the whole journey. Nine documents and the tagged code carry the evidence. Every limit in EgoQuant is a proposal, every simulation is hypothetical, and every claim names a file, a test or a measured number.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1002975" cy="822960"/>
          </a:xfrm>
          <a:prstGeom prst="rect">
            <a:avLst/>
          </a:prstGeom>
          <a:noFill/>
          <a:ln/>
        </p:spPr>
        <p:txBody>
          <a:bodyPr wrap="square" rtlCol="0"/>
          <a:lstStyle>
            <a:lvl1pPr indent="0" marL="0">
              <a:buNone/>
              <a:defRPr lang="en-US" sz="3000" b="1" dirty="0">
                <a:solidFill>
                  <a:schemeClr val="tx1"/>
                </a:solidFill>
              </a:defRPr>
            </a:lvl1pPr>
          </a:lstStyle>
          <a:p>
            <a:pPr indent="0" marL="0">
              <a:buNone/>
            </a:pPr>
            <a:r>
              <a:rPr lang="en-US" sz="3000" b="1" dirty="0">
                <a:solidFill>
                  <a:schemeClr val="tx1"/>
                </a:solidFill>
              </a:rPr>
              <a:t>Title</a:t>
            </a:r>
            <a:endParaRPr lang="en-US" sz="3000" dirty="0"/>
          </a:p>
        </p:txBody>
      </p:sp>
      <p:sp>
        <p:nvSpPr>
          <p:cNvPr id="3" name="Text 0"/>
          <p:cNvSpPr txBox="1"/>
          <p:nvPr/>
        </p:nvSpPr>
        <p:spPr>
          <a:xfrm>
            <a:off x="594360" y="6473952"/>
            <a:ext cx="10271455" cy="228600"/>
          </a:xfrm>
          <a:prstGeom prst="rect">
            <a:avLst/>
          </a:prstGeom>
          <a:noFill/>
          <a:ln/>
        </p:spPr>
        <p:txBody>
          <a:bodyPr wrap="square" lIns="0" tIns="0" rIns="0" bIns="0" rtlCol="0" anchor="ctr"/>
          <a:lstStyle/>
          <a:p>
            <a:pPr indent="0" marL="0">
              <a:buNone/>
            </a:pPr>
            <a:r>
              <a:rPr lang="en-US" sz="850" dirty="0">
                <a:solidFill>
                  <a:srgbClr val="777777"/>
                </a:solidFill>
              </a:rPr>
              <a:t>EgoQuant · 2026 Shenzhen FinTechathon, WeBank International Track, Topic B · hypothetical, based on past data; not a forecast, not a recommendation; EgoQuant places no orders</a:t>
            </a:r>
            <a:endParaRPr lang="en-US" sz="850" dirty="0"/>
          </a:p>
        </p:txBody>
      </p:sp>
      <p:sp>
        <p:nvSpPr>
          <p:cNvPr id="25" name="Slide Number Placeholder 0"/>
          <p:cNvSpPr>
            <a:spLocks noGrp="1"/>
          </p:cNvSpPr>
          <p:nvPr>
            <p:ph type="sldNum" sz="quarter" idx="4294967295"/>
          </p:nvPr>
        </p:nvSpPr>
        <p:spPr>
          <a:xfrm>
            <a:off x="11048695" y="6473952"/>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777777"/>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1414"/>
        </a:solidFill>
      </p:bgPr>
    </p:bg>
    <p:spTree>
      <p:nvGrpSpPr>
        <p:cNvPr id="1" name=""/>
        <p:cNvGrpSpPr/>
        <p:nvPr/>
      </p:nvGrpSpPr>
      <p:grpSpPr>
        <a:xfrm>
          <a:off x="0" y="0"/>
          <a:ext cx="0" cy="0"/>
          <a:chOff x="0" y="0"/>
          <a:chExt cx="0" cy="0"/>
        </a:xfrm>
      </p:grpSpPr>
      <p:sp>
        <p:nvSpPr>
          <p:cNvPr id="2" name="Text 0"/>
          <p:cNvSpPr txBox="1"/>
          <p:nvPr/>
        </p:nvSpPr>
        <p:spPr>
          <a:xfrm>
            <a:off x="594360" y="6473952"/>
            <a:ext cx="10271455" cy="228600"/>
          </a:xfrm>
          <a:prstGeom prst="rect">
            <a:avLst/>
          </a:prstGeom>
          <a:noFill/>
          <a:ln/>
        </p:spPr>
        <p:txBody>
          <a:bodyPr wrap="square" lIns="0" tIns="0" rIns="0" bIns="0" rtlCol="0" anchor="ctr"/>
          <a:lstStyle/>
          <a:p>
            <a:pPr indent="0" marL="0">
              <a:buNone/>
            </a:pPr>
            <a:r>
              <a:rPr lang="en-US" sz="850" dirty="0">
                <a:solidFill>
                  <a:srgbClr val="9A9A9A"/>
                </a:solidFill>
              </a:rPr>
              <a:t>EgoQuant · 2026 Shenzhen FinTechathon, WeBank International Track, Topic B · hypothetical, based on past data; not a forecast, not a recommendation; EgoQuant places no orders</a:t>
            </a:r>
            <a:endParaRPr lang="en-US" sz="850" dirty="0"/>
          </a:p>
        </p:txBody>
      </p:sp>
      <p:sp>
        <p:nvSpPr>
          <p:cNvPr id="25" name="Slide Number Placeholder 0"/>
          <p:cNvSpPr>
            <a:spLocks noGrp="1"/>
          </p:cNvSpPr>
          <p:nvPr>
            <p:ph type="sldNum" sz="quarter" idx="4294967295"/>
          </p:nvPr>
        </p:nvSpPr>
        <p:spPr>
          <a:xfrm>
            <a:off x="11048695" y="6473952"/>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A9A9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48695" y="6473952"/>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77777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lide1-brand"/>
          <p:cNvSpPr txBox="1"/>
          <p:nvPr/>
        </p:nvSpPr>
        <p:spPr>
          <a:xfrm>
            <a:off x="594360" y="1371600"/>
            <a:ext cx="566928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EgoQuant</a:t>
            </a:r>
            <a:endParaRPr lang="en-US" sz="5400" dirty="0"/>
          </a:p>
        </p:txBody>
      </p:sp>
      <p:sp>
        <p:nvSpPr>
          <p:cNvPr id="3" name="slide1-sub"/>
          <p:cNvSpPr txBox="1"/>
          <p:nvPr/>
        </p:nvSpPr>
        <p:spPr>
          <a:xfrm>
            <a:off x="594360" y="2423160"/>
            <a:ext cx="5669280" cy="640080"/>
          </a:xfrm>
          <a:prstGeom prst="rect">
            <a:avLst/>
          </a:prstGeom>
          <a:noFill/>
          <a:ln/>
        </p:spPr>
        <p:txBody>
          <a:bodyPr wrap="square" lIns="0" tIns="0" rIns="0" bIns="0" rtlCol="0" anchor="ctr"/>
          <a:lstStyle/>
          <a:p>
            <a:pPr indent="0" marL="0">
              <a:buNone/>
            </a:pPr>
            <a:r>
              <a:rPr lang="en-US" sz="2400" dirty="0">
                <a:solidFill>
                  <a:srgbClr val="DDDDDD"/>
                </a:solidFill>
                <a:latin typeface="Cambria" pitchFamily="34" charset="0"/>
                <a:ea typeface="Cambria" pitchFamily="34" charset="-122"/>
                <a:cs typeface="Cambria" pitchFamily="34" charset="-120"/>
              </a:rPr>
              <a:t>Your portfolio should understand you</a:t>
            </a:r>
            <a:endParaRPr lang="en-US" sz="2400" dirty="0"/>
          </a:p>
        </p:txBody>
      </p:sp>
      <p:sp>
        <p:nvSpPr>
          <p:cNvPr id="4" name="slide1-lines"/>
          <p:cNvSpPr txBox="1"/>
          <p:nvPr/>
        </p:nvSpPr>
        <p:spPr>
          <a:xfrm>
            <a:off x="594360" y="3291840"/>
            <a:ext cx="5669280" cy="1463040"/>
          </a:xfrm>
          <a:prstGeom prst="rect">
            <a:avLst/>
          </a:prstGeom>
          <a:noFill/>
          <a:ln/>
        </p:spPr>
        <p:txBody>
          <a:bodyPr wrap="square" lIns="0" tIns="0" rIns="0" bIns="0" rtlCol="0" anchor="t"/>
          <a:lstStyle/>
          <a:p>
            <a:pPr indent="0" marL="0">
              <a:spcAft>
                <a:spcPts val="600"/>
              </a:spcAft>
              <a:buNone/>
            </a:pPr>
            <a:r>
              <a:rPr lang="en-US" sz="1300" dirty="0">
                <a:solidFill>
                  <a:srgbClr val="CFCFCF"/>
                </a:solidFill>
              </a:rPr>
              <a:t>A behavioural approach to wealth advisory: a wealth-advisory agent you can check</a:t>
            </a:r>
            <a:endParaRPr lang="en-US" sz="1300" dirty="0"/>
          </a:p>
          <a:p>
            <a:pPr indent="0" marL="0">
              <a:spcAft>
                <a:spcPts val="600"/>
              </a:spcAft>
              <a:buNone/>
            </a:pPr>
            <a:r>
              <a:rPr lang="en-US" sz="1300" dirty="0">
                <a:solidFill>
                  <a:srgbClr val="CFCFCF"/>
                </a:solidFill>
              </a:rPr>
              <a:t>2026 Shenzhen FinTechathon · WeBank International Track · Topic B: Wealth Advisory Agent</a:t>
            </a:r>
            <a:endParaRPr lang="en-US" sz="1300" dirty="0"/>
          </a:p>
          <a:p>
            <a:pPr indent="0" marL="0">
              <a:spcAft>
                <a:spcPts val="600"/>
              </a:spcAft>
              <a:buNone/>
            </a:pPr>
            <a:r>
              <a:rPr lang="en-US" sz="1300" dirty="0">
                <a:solidFill>
                  <a:srgbClr val="CFCFCF"/>
                </a:solidFill>
              </a:rPr>
              <a:t>Team EgoQuant · NYU Abu Dhabi · 20 October 2026</a:t>
            </a:r>
            <a:endParaRPr lang="en-US" sz="1300" dirty="0"/>
          </a:p>
          <a:p>
            <a:pPr indent="0" marL="0">
              <a:spcAft>
                <a:spcPts val="600"/>
              </a:spcAft>
              <a:buNone/>
            </a:pPr>
            <a:r>
              <a:rPr lang="en-US" sz="1300" dirty="0">
                <a:solidFill>
                  <a:srgbClr val="CFCFCF"/>
                </a:solidFill>
              </a:rPr>
              <a:t>Live: www.egoquant.app</a:t>
            </a:r>
            <a:endParaRPr lang="en-US" sz="1300" dirty="0"/>
          </a:p>
        </p:txBody>
      </p:sp>
      <p:pic>
        <p:nvPicPr>
          <p:cNvPr id="5" name="slide1-image" descr="C:\Users\NYUAD\AppData\Local\Temp\claude\C--Users-NYUAD-Downloads-FinTechaton\ea8358ed-f283-4dea-9090-adc4a48a45d2\scratchpad\deck\01-home-desktop.png">    </p:cNvPr>
          <p:cNvPicPr>
            <a:picLocks noChangeAspect="1"/>
          </p:cNvPicPr>
          <p:nvPr/>
        </p:nvPicPr>
        <p:blipFill>
          <a:blip r:embed="rId1"/>
          <a:stretch>
            <a:fillRect/>
          </a:stretch>
        </p:blipFill>
        <p:spPr>
          <a:xfrm>
            <a:off x="6629400" y="1188720"/>
            <a:ext cx="4937760" cy="3086100"/>
          </a:xfrm>
          <a:prstGeom prst="rect">
            <a:avLst/>
          </a:prstGeom>
        </p:spPr>
      </p:pic>
      <p:sp>
        <p:nvSpPr>
          <p:cNvPr id="25" name="Slide Number Placeholder 0"/>
          <p:cNvSpPr>
            <a:spLocks noGrp="1"/>
          </p:cNvSpPr>
          <p:nvPr>
            <p:ph type="sldNum" sz="quarter" idx="4294967295"/>
          </p:nvPr>
        </p:nvSpPr>
        <p:spPr>
          <a:xfrm>
            <a:off x="11048695" y="6473952"/>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A9A9A"/>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1002975" cy="822960"/>
          </a:xfrm>
          <a:prstGeom prst="rect">
            <a:avLst/>
          </a:prstGeom>
          <a:noFill/>
          <a:ln/>
        </p:spPr>
        <p:txBody>
          <a:bodyPr wrap="square" lIns="0" tIns="0" rIns="0" bIns="0" rtlCol="0" anchor="t"/>
          <a:lstStyle/>
          <a:p>
            <a:pPr indent="0" marL="0">
              <a:buNone/>
            </a:pPr>
            <a:r>
              <a:rPr lang="en-US" sz="3000" b="1" dirty="0">
                <a:solidFill>
                  <a:schemeClr val="tx1"/>
                </a:solidFill>
              </a:rPr>
              <a:t>The problem a retail investor has</a:t>
            </a:r>
            <a:endParaRPr lang="en-US" sz="3000" dirty="0"/>
          </a:p>
        </p:txBody>
      </p:sp>
      <p:sp>
        <p:nvSpPr>
          <p:cNvPr id="3" name="slide2-intro"/>
          <p:cNvSpPr txBox="1"/>
          <p:nvPr/>
        </p:nvSpPr>
        <p:spPr>
          <a:xfrm>
            <a:off x="594360" y="1417320"/>
            <a:ext cx="11002975" cy="548640"/>
          </a:xfrm>
          <a:prstGeom prst="rect">
            <a:avLst/>
          </a:prstGeom>
          <a:noFill/>
          <a:ln/>
        </p:spPr>
        <p:txBody>
          <a:bodyPr wrap="square" lIns="0" tIns="0" rIns="0" bIns="0" rtlCol="0" anchor="t"/>
          <a:lstStyle/>
          <a:p>
            <a:pPr indent="0" marL="0">
              <a:buNone/>
            </a:pPr>
            <a:r>
              <a:rPr lang="en-US" sz="1550" dirty="0">
                <a:solidFill>
                  <a:schemeClr val="tx1"/>
                </a:solidFill>
              </a:rPr>
              <a:t>Most apps show a portfolio and ask for trust. Three things the investor cannot do today:</a:t>
            </a:r>
            <a:endParaRPr lang="en-US" sz="1550" dirty="0"/>
          </a:p>
        </p:txBody>
      </p:sp>
      <p:sp>
        <p:nvSpPr>
          <p:cNvPr id="4" name="slide2-card0"/>
          <p:cNvSpPr/>
          <p:nvPr/>
        </p:nvSpPr>
        <p:spPr>
          <a:xfrm>
            <a:off x="594360" y="2103120"/>
            <a:ext cx="3484778" cy="2651760"/>
          </a:xfrm>
          <a:prstGeom prst="rect">
            <a:avLst/>
          </a:prstGeom>
          <a:solidFill>
            <a:srgbClr val="F1F1F1"/>
          </a:solidFill>
          <a:ln w="12700">
            <a:solidFill>
              <a:srgbClr val="F1F1F1"/>
            </a:solidFill>
            <a:prstDash val="solid"/>
          </a:ln>
        </p:spPr>
      </p:sp>
      <p:sp>
        <p:nvSpPr>
          <p:cNvPr id="5" name="slide2-num0"/>
          <p:cNvSpPr/>
          <p:nvPr/>
        </p:nvSpPr>
        <p:spPr>
          <a:xfrm>
            <a:off x="868680" y="2331720"/>
            <a:ext cx="384048" cy="384048"/>
          </a:xfrm>
          <a:prstGeom prst="ellipse">
            <a:avLst/>
          </a:prstGeom>
          <a:solidFill>
            <a:srgbClr val="111111"/>
          </a:solidFill>
          <a:ln w="12700">
            <a:solidFill>
              <a:srgbClr val="111111"/>
            </a:solidFill>
            <a:prstDash val="solid"/>
          </a:ln>
        </p:spPr>
      </p:sp>
      <p:sp>
        <p:nvSpPr>
          <p:cNvPr id="6" name="slide2-numtext0"/>
          <p:cNvSpPr txBox="1"/>
          <p:nvPr/>
        </p:nvSpPr>
        <p:spPr>
          <a:xfrm>
            <a:off x="868680" y="2331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lide2-head0"/>
          <p:cNvSpPr txBox="1"/>
          <p:nvPr/>
        </p:nvSpPr>
        <p:spPr>
          <a:xfrm>
            <a:off x="868680" y="2788920"/>
            <a:ext cx="2936138" cy="45720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Judge fit</a:t>
            </a:r>
            <a:endParaRPr lang="en-US" sz="1900" dirty="0"/>
          </a:p>
        </p:txBody>
      </p:sp>
      <p:sp>
        <p:nvSpPr>
          <p:cNvPr id="8" name="slide2-body0"/>
          <p:cNvSpPr txBox="1"/>
          <p:nvPr/>
        </p:nvSpPr>
        <p:spPr>
          <a:xfrm>
            <a:off x="868680" y="3291840"/>
            <a:ext cx="2936138" cy="1371600"/>
          </a:xfrm>
          <a:prstGeom prst="rect">
            <a:avLst/>
          </a:prstGeom>
          <a:noFill/>
          <a:ln/>
        </p:spPr>
        <p:txBody>
          <a:bodyPr wrap="square" lIns="0" tIns="0" rIns="0" bIns="0" rtlCol="0" anchor="t"/>
          <a:lstStyle/>
          <a:p>
            <a:pPr indent="0" marL="0">
              <a:buNone/>
            </a:pPr>
            <a:r>
              <a:rPr lang="en-US" sz="1400" dirty="0">
                <a:solidFill>
                  <a:schemeClr val="tx1"/>
                </a:solidFill>
              </a:rPr>
              <a:t>Is this portfolio suitable for my finances and for how I really behave under loss?</a:t>
            </a:r>
            <a:endParaRPr lang="en-US" sz="1400" dirty="0"/>
          </a:p>
        </p:txBody>
      </p:sp>
      <p:sp>
        <p:nvSpPr>
          <p:cNvPr id="9" name="slide2-card1"/>
          <p:cNvSpPr/>
          <p:nvPr/>
        </p:nvSpPr>
        <p:spPr>
          <a:xfrm>
            <a:off x="4353458" y="2103120"/>
            <a:ext cx="3484778" cy="2651760"/>
          </a:xfrm>
          <a:prstGeom prst="rect">
            <a:avLst/>
          </a:prstGeom>
          <a:solidFill>
            <a:srgbClr val="F1F1F1"/>
          </a:solidFill>
          <a:ln w="12700">
            <a:solidFill>
              <a:srgbClr val="F1F1F1"/>
            </a:solidFill>
            <a:prstDash val="solid"/>
          </a:ln>
        </p:spPr>
      </p:sp>
      <p:sp>
        <p:nvSpPr>
          <p:cNvPr id="10" name="slide2-num1"/>
          <p:cNvSpPr/>
          <p:nvPr/>
        </p:nvSpPr>
        <p:spPr>
          <a:xfrm>
            <a:off x="4627778" y="2331720"/>
            <a:ext cx="384048" cy="384048"/>
          </a:xfrm>
          <a:prstGeom prst="ellipse">
            <a:avLst/>
          </a:prstGeom>
          <a:solidFill>
            <a:srgbClr val="111111"/>
          </a:solidFill>
          <a:ln w="12700">
            <a:solidFill>
              <a:srgbClr val="111111"/>
            </a:solidFill>
            <a:prstDash val="solid"/>
          </a:ln>
        </p:spPr>
      </p:sp>
      <p:sp>
        <p:nvSpPr>
          <p:cNvPr id="11" name="slide2-numtext1"/>
          <p:cNvSpPr txBox="1"/>
          <p:nvPr/>
        </p:nvSpPr>
        <p:spPr>
          <a:xfrm>
            <a:off x="4627778" y="2331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slide2-head1"/>
          <p:cNvSpPr txBox="1"/>
          <p:nvPr/>
        </p:nvSpPr>
        <p:spPr>
          <a:xfrm>
            <a:off x="4627778" y="2788920"/>
            <a:ext cx="2936138" cy="45720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See why</a:t>
            </a:r>
            <a:endParaRPr lang="en-US" sz="1900" dirty="0"/>
          </a:p>
        </p:txBody>
      </p:sp>
      <p:sp>
        <p:nvSpPr>
          <p:cNvPr id="13" name="slide2-body1"/>
          <p:cNvSpPr txBox="1"/>
          <p:nvPr/>
        </p:nvSpPr>
        <p:spPr>
          <a:xfrm>
            <a:off x="4627778" y="3291840"/>
            <a:ext cx="2936138" cy="1371600"/>
          </a:xfrm>
          <a:prstGeom prst="rect">
            <a:avLst/>
          </a:prstGeom>
          <a:noFill/>
          <a:ln/>
        </p:spPr>
        <p:txBody>
          <a:bodyPr wrap="square" lIns="0" tIns="0" rIns="0" bIns="0" rtlCol="0" anchor="t"/>
          <a:lstStyle/>
          <a:p>
            <a:pPr indent="0" marL="0">
              <a:buNone/>
            </a:pPr>
            <a:r>
              <a:rPr lang="en-US" sz="1400" dirty="0">
                <a:solidFill>
                  <a:schemeClr val="tx1"/>
                </a:solidFill>
              </a:rPr>
              <a:t>Which rule set this limit, where does this number come from, and who checked it?</a:t>
            </a:r>
            <a:endParaRPr lang="en-US" sz="1400" dirty="0"/>
          </a:p>
        </p:txBody>
      </p:sp>
      <p:sp>
        <p:nvSpPr>
          <p:cNvPr id="14" name="slide2-card2"/>
          <p:cNvSpPr/>
          <p:nvPr/>
        </p:nvSpPr>
        <p:spPr>
          <a:xfrm>
            <a:off x="8112557" y="2103120"/>
            <a:ext cx="3484778" cy="2651760"/>
          </a:xfrm>
          <a:prstGeom prst="rect">
            <a:avLst/>
          </a:prstGeom>
          <a:solidFill>
            <a:srgbClr val="F1F1F1"/>
          </a:solidFill>
          <a:ln w="12700">
            <a:solidFill>
              <a:srgbClr val="F1F1F1"/>
            </a:solidFill>
            <a:prstDash val="solid"/>
          </a:ln>
        </p:spPr>
      </p:sp>
      <p:sp>
        <p:nvSpPr>
          <p:cNvPr id="15" name="slide2-num2"/>
          <p:cNvSpPr/>
          <p:nvPr/>
        </p:nvSpPr>
        <p:spPr>
          <a:xfrm>
            <a:off x="8386877" y="2331720"/>
            <a:ext cx="384048" cy="384048"/>
          </a:xfrm>
          <a:prstGeom prst="ellipse">
            <a:avLst/>
          </a:prstGeom>
          <a:solidFill>
            <a:srgbClr val="111111"/>
          </a:solidFill>
          <a:ln w="12700">
            <a:solidFill>
              <a:srgbClr val="111111"/>
            </a:solidFill>
            <a:prstDash val="solid"/>
          </a:ln>
        </p:spPr>
      </p:sp>
      <p:sp>
        <p:nvSpPr>
          <p:cNvPr id="16" name="slide2-numtext2"/>
          <p:cNvSpPr txBox="1"/>
          <p:nvPr/>
        </p:nvSpPr>
        <p:spPr>
          <a:xfrm>
            <a:off x="8386877" y="2331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slide2-head2"/>
          <p:cNvSpPr txBox="1"/>
          <p:nvPr/>
        </p:nvSpPr>
        <p:spPr>
          <a:xfrm>
            <a:off x="8386877" y="2788920"/>
            <a:ext cx="2936138" cy="45720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Prove later</a:t>
            </a:r>
            <a:endParaRPr lang="en-US" sz="1900" dirty="0"/>
          </a:p>
        </p:txBody>
      </p:sp>
      <p:sp>
        <p:nvSpPr>
          <p:cNvPr id="18" name="slide2-body2"/>
          <p:cNvSpPr txBox="1"/>
          <p:nvPr/>
        </p:nvSpPr>
        <p:spPr>
          <a:xfrm>
            <a:off x="8386877" y="3291840"/>
            <a:ext cx="2936138" cy="1371600"/>
          </a:xfrm>
          <a:prstGeom prst="rect">
            <a:avLst/>
          </a:prstGeom>
          <a:noFill/>
          <a:ln/>
        </p:spPr>
        <p:txBody>
          <a:bodyPr wrap="square" lIns="0" tIns="0" rIns="0" bIns="0" rtlCol="0" anchor="t"/>
          <a:lstStyle/>
          <a:p>
            <a:pPr indent="0" marL="0">
              <a:buNone/>
            </a:pPr>
            <a:r>
              <a:rPr lang="en-US" sz="1400" dirty="0">
                <a:solidFill>
                  <a:schemeClr val="tx1"/>
                </a:solidFill>
              </a:rPr>
              <a:t>Can I show afterwards, unchanged, what I was told?</a:t>
            </a:r>
            <a:endParaRPr lang="en-US" sz="1400" dirty="0"/>
          </a:p>
        </p:txBody>
      </p:sp>
      <p:sp>
        <p:nvSpPr>
          <p:cNvPr id="19" name="slide2-outro"/>
          <p:cNvSpPr txBox="1"/>
          <p:nvPr/>
        </p:nvSpPr>
        <p:spPr>
          <a:xfrm>
            <a:off x="594360" y="5029200"/>
            <a:ext cx="11002975" cy="548640"/>
          </a:xfrm>
          <a:prstGeom prst="rect">
            <a:avLst/>
          </a:prstGeom>
          <a:noFill/>
          <a:ln/>
        </p:spPr>
        <p:txBody>
          <a:bodyPr wrap="square" lIns="0" tIns="0" rIns="0" bIns="0" rtlCol="0" anchor="t"/>
          <a:lstStyle/>
          <a:p>
            <a:pPr indent="0" marL="0">
              <a:buNone/>
            </a:pPr>
            <a:r>
              <a:rPr lang="en-US" sz="1400" i="1" dirty="0">
                <a:solidFill>
                  <a:srgbClr val="333333"/>
                </a:solidFill>
              </a:rPr>
              <a:t>EgoQuant makes three promises in return: Fit, Proof, Trace.</a:t>
            </a:r>
            <a:endParaRPr lang="en-US" sz="1400" dirty="0"/>
          </a:p>
        </p:txBody>
      </p:sp>
      <p:sp>
        <p:nvSpPr>
          <p:cNvPr id="25" name="Slide Number Placeholder 0"/>
          <p:cNvSpPr>
            <a:spLocks noGrp="1"/>
          </p:cNvSpPr>
          <p:nvPr>
            <p:ph type="sldNum" sz="quarter" idx="4294967295"/>
          </p:nvPr>
        </p:nvSpPr>
        <p:spPr>
          <a:xfrm>
            <a:off x="11048695" y="6473952"/>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777777"/>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1002975" cy="822960"/>
          </a:xfrm>
          <a:prstGeom prst="rect">
            <a:avLst/>
          </a:prstGeom>
          <a:noFill/>
          <a:ln/>
        </p:spPr>
        <p:txBody>
          <a:bodyPr wrap="square" lIns="0" tIns="0" rIns="0" bIns="0" rtlCol="0" anchor="t"/>
          <a:lstStyle/>
          <a:p>
            <a:pPr indent="0" marL="0">
              <a:buNone/>
            </a:pPr>
            <a:r>
              <a:rPr lang="en-US" sz="3000" b="1" dirty="0">
                <a:solidFill>
                  <a:schemeClr val="tx1"/>
                </a:solidFill>
              </a:rPr>
              <a:t>The one rule that organises the system</a:t>
            </a:r>
            <a:endParaRPr lang="en-US" sz="3000" dirty="0"/>
          </a:p>
        </p:txBody>
      </p:sp>
      <p:sp>
        <p:nvSpPr>
          <p:cNvPr id="3" name="slide3-intro"/>
          <p:cNvSpPr txBox="1"/>
          <p:nvPr/>
        </p:nvSpPr>
        <p:spPr>
          <a:xfrm>
            <a:off x="594360" y="1417320"/>
            <a:ext cx="11002975" cy="548640"/>
          </a:xfrm>
          <a:prstGeom prst="rect">
            <a:avLst/>
          </a:prstGeom>
          <a:noFill/>
          <a:ln/>
        </p:spPr>
        <p:txBody>
          <a:bodyPr wrap="square" lIns="0" tIns="0" rIns="0" bIns="0" rtlCol="0" anchor="t"/>
          <a:lstStyle/>
          <a:p>
            <a:pPr indent="0" marL="0">
              <a:buNone/>
            </a:pPr>
            <a:r>
              <a:rPr lang="en-US" sz="1550" dirty="0">
                <a:solidFill>
                  <a:schemeClr val="tx1"/>
                </a:solidFill>
              </a:rPr>
              <a:t>Numbers that matter come from deterministic, tested code. AI only explains. An independent Risk Engine has the final word.</a:t>
            </a:r>
            <a:endParaRPr lang="en-US" sz="1550" dirty="0"/>
          </a:p>
        </p:txBody>
      </p:sp>
      <p:sp>
        <p:nvSpPr>
          <p:cNvPr id="4" name="slide3-card0"/>
          <p:cNvSpPr/>
          <p:nvPr/>
        </p:nvSpPr>
        <p:spPr>
          <a:xfrm>
            <a:off x="594360" y="2103120"/>
            <a:ext cx="3484778" cy="2651760"/>
          </a:xfrm>
          <a:prstGeom prst="rect">
            <a:avLst/>
          </a:prstGeom>
          <a:solidFill>
            <a:srgbClr val="F1F1F1"/>
          </a:solidFill>
          <a:ln w="12700">
            <a:solidFill>
              <a:srgbClr val="F1F1F1"/>
            </a:solidFill>
            <a:prstDash val="solid"/>
          </a:ln>
        </p:spPr>
      </p:sp>
      <p:sp>
        <p:nvSpPr>
          <p:cNvPr id="5" name="slide3-num0"/>
          <p:cNvSpPr/>
          <p:nvPr/>
        </p:nvSpPr>
        <p:spPr>
          <a:xfrm>
            <a:off x="868680" y="2331720"/>
            <a:ext cx="384048" cy="384048"/>
          </a:xfrm>
          <a:prstGeom prst="ellipse">
            <a:avLst/>
          </a:prstGeom>
          <a:solidFill>
            <a:srgbClr val="111111"/>
          </a:solidFill>
          <a:ln w="12700">
            <a:solidFill>
              <a:srgbClr val="111111"/>
            </a:solidFill>
            <a:prstDash val="solid"/>
          </a:ln>
        </p:spPr>
      </p:sp>
      <p:sp>
        <p:nvSpPr>
          <p:cNvPr id="6" name="slide3-numtext0"/>
          <p:cNvSpPr txBox="1"/>
          <p:nvPr/>
        </p:nvSpPr>
        <p:spPr>
          <a:xfrm>
            <a:off x="868680" y="2331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lide3-head0"/>
          <p:cNvSpPr txBox="1"/>
          <p:nvPr/>
        </p:nvSpPr>
        <p:spPr>
          <a:xfrm>
            <a:off x="868680" y="2788920"/>
            <a:ext cx="2936138" cy="45720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Code decides</a:t>
            </a:r>
            <a:endParaRPr lang="en-US" sz="1900" dirty="0"/>
          </a:p>
        </p:txBody>
      </p:sp>
      <p:sp>
        <p:nvSpPr>
          <p:cNvPr id="8" name="slide3-body0"/>
          <p:cNvSpPr txBox="1"/>
          <p:nvPr/>
        </p:nvSpPr>
        <p:spPr>
          <a:xfrm>
            <a:off x="868680" y="3291840"/>
            <a:ext cx="2936138" cy="1371600"/>
          </a:xfrm>
          <a:prstGeom prst="rect">
            <a:avLst/>
          </a:prstGeom>
          <a:noFill/>
          <a:ln/>
        </p:spPr>
        <p:txBody>
          <a:bodyPr wrap="square" lIns="0" tIns="0" rIns="0" bIns="0" rtlCol="0" anchor="t"/>
          <a:lstStyle/>
          <a:p>
            <a:pPr indent="0" marL="0">
              <a:buNone/>
            </a:pPr>
            <a:r>
              <a:rPr lang="en-US" sz="1400" dirty="0">
                <a:solidFill>
                  <a:schemeClr val="tx1"/>
                </a:solidFill>
              </a:rPr>
              <a:t>Scores, the risk category, every limit, the portfolio weights, approvals and trade verdicts. No language model can write to any of them.</a:t>
            </a:r>
            <a:endParaRPr lang="en-US" sz="1400" dirty="0"/>
          </a:p>
        </p:txBody>
      </p:sp>
      <p:sp>
        <p:nvSpPr>
          <p:cNvPr id="9" name="slide3-card1"/>
          <p:cNvSpPr/>
          <p:nvPr/>
        </p:nvSpPr>
        <p:spPr>
          <a:xfrm>
            <a:off x="4353458" y="2103120"/>
            <a:ext cx="3484778" cy="2651760"/>
          </a:xfrm>
          <a:prstGeom prst="rect">
            <a:avLst/>
          </a:prstGeom>
          <a:solidFill>
            <a:srgbClr val="F1F1F1"/>
          </a:solidFill>
          <a:ln w="12700">
            <a:solidFill>
              <a:srgbClr val="F1F1F1"/>
            </a:solidFill>
            <a:prstDash val="solid"/>
          </a:ln>
        </p:spPr>
      </p:sp>
      <p:sp>
        <p:nvSpPr>
          <p:cNvPr id="10" name="slide3-num1"/>
          <p:cNvSpPr/>
          <p:nvPr/>
        </p:nvSpPr>
        <p:spPr>
          <a:xfrm>
            <a:off x="4627778" y="2331720"/>
            <a:ext cx="384048" cy="384048"/>
          </a:xfrm>
          <a:prstGeom prst="ellipse">
            <a:avLst/>
          </a:prstGeom>
          <a:solidFill>
            <a:srgbClr val="111111"/>
          </a:solidFill>
          <a:ln w="12700">
            <a:solidFill>
              <a:srgbClr val="111111"/>
            </a:solidFill>
            <a:prstDash val="solid"/>
          </a:ln>
        </p:spPr>
      </p:sp>
      <p:sp>
        <p:nvSpPr>
          <p:cNvPr id="11" name="slide3-numtext1"/>
          <p:cNvSpPr txBox="1"/>
          <p:nvPr/>
        </p:nvSpPr>
        <p:spPr>
          <a:xfrm>
            <a:off x="4627778" y="2331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slide3-head1"/>
          <p:cNvSpPr txBox="1"/>
          <p:nvPr/>
        </p:nvSpPr>
        <p:spPr>
          <a:xfrm>
            <a:off x="4627778" y="2788920"/>
            <a:ext cx="2936138" cy="45720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AI explains</a:t>
            </a:r>
            <a:endParaRPr lang="en-US" sz="1900" dirty="0"/>
          </a:p>
        </p:txBody>
      </p:sp>
      <p:sp>
        <p:nvSpPr>
          <p:cNvPr id="13" name="slide3-body1"/>
          <p:cNvSpPr txBox="1"/>
          <p:nvPr/>
        </p:nvSpPr>
        <p:spPr>
          <a:xfrm>
            <a:off x="4627778" y="3291840"/>
            <a:ext cx="2936138" cy="1371600"/>
          </a:xfrm>
          <a:prstGeom prst="rect">
            <a:avLst/>
          </a:prstGeom>
          <a:noFill/>
          <a:ln/>
        </p:spPr>
        <p:txBody>
          <a:bodyPr wrap="square" lIns="0" tIns="0" rIns="0" bIns="0" rtlCol="0" anchor="t"/>
          <a:lstStyle/>
          <a:p>
            <a:pPr indent="0" marL="0">
              <a:buNone/>
            </a:pPr>
            <a:r>
              <a:rPr lang="en-US" sz="1400" dirty="0">
                <a:solidFill>
                  <a:schemeClr val="tx1"/>
                </a:solidFill>
              </a:rPr>
              <a:t>The advisor explains the engine's facts, can run two whitelisted tools (what-if, check one trade), and every number in its answer is checked against the engine.</a:t>
            </a:r>
            <a:endParaRPr lang="en-US" sz="1400" dirty="0"/>
          </a:p>
        </p:txBody>
      </p:sp>
      <p:sp>
        <p:nvSpPr>
          <p:cNvPr id="14" name="slide3-card2"/>
          <p:cNvSpPr/>
          <p:nvPr/>
        </p:nvSpPr>
        <p:spPr>
          <a:xfrm>
            <a:off x="8112557" y="2103120"/>
            <a:ext cx="3484778" cy="2651760"/>
          </a:xfrm>
          <a:prstGeom prst="rect">
            <a:avLst/>
          </a:prstGeom>
          <a:solidFill>
            <a:srgbClr val="F1F1F1"/>
          </a:solidFill>
          <a:ln w="12700">
            <a:solidFill>
              <a:srgbClr val="F1F1F1"/>
            </a:solidFill>
            <a:prstDash val="solid"/>
          </a:ln>
        </p:spPr>
      </p:sp>
      <p:sp>
        <p:nvSpPr>
          <p:cNvPr id="15" name="slide3-num2"/>
          <p:cNvSpPr/>
          <p:nvPr/>
        </p:nvSpPr>
        <p:spPr>
          <a:xfrm>
            <a:off x="8386877" y="2331720"/>
            <a:ext cx="384048" cy="384048"/>
          </a:xfrm>
          <a:prstGeom prst="ellipse">
            <a:avLst/>
          </a:prstGeom>
          <a:solidFill>
            <a:srgbClr val="111111"/>
          </a:solidFill>
          <a:ln w="12700">
            <a:solidFill>
              <a:srgbClr val="111111"/>
            </a:solidFill>
            <a:prstDash val="solid"/>
          </a:ln>
        </p:spPr>
      </p:sp>
      <p:sp>
        <p:nvSpPr>
          <p:cNvPr id="16" name="slide3-numtext2"/>
          <p:cNvSpPr txBox="1"/>
          <p:nvPr/>
        </p:nvSpPr>
        <p:spPr>
          <a:xfrm>
            <a:off x="8386877" y="23317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slide3-head2"/>
          <p:cNvSpPr txBox="1"/>
          <p:nvPr/>
        </p:nvSpPr>
        <p:spPr>
          <a:xfrm>
            <a:off x="8386877" y="2788920"/>
            <a:ext cx="2936138" cy="45720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One labelled exception</a:t>
            </a:r>
            <a:endParaRPr lang="en-US" sz="1900" dirty="0"/>
          </a:p>
        </p:txBody>
      </p:sp>
      <p:sp>
        <p:nvSpPr>
          <p:cNvPr id="18" name="slide3-body2"/>
          <p:cNvSpPr txBox="1"/>
          <p:nvPr/>
        </p:nvSpPr>
        <p:spPr>
          <a:xfrm>
            <a:off x="8386877" y="3291840"/>
            <a:ext cx="2936138" cy="1371600"/>
          </a:xfrm>
          <a:prstGeom prst="rect">
            <a:avLst/>
          </a:prstGeom>
          <a:noFill/>
          <a:ln/>
        </p:spPr>
        <p:txBody>
          <a:bodyPr wrap="square" lIns="0" tIns="0" rIns="0" bIns="0" rtlCol="0" anchor="t"/>
          <a:lstStyle/>
          <a:p>
            <a:pPr indent="0" marL="0">
              <a:buNone/>
            </a:pPr>
            <a:r>
              <a:rPr lang="en-US" sz="1400" dirty="0">
                <a:solidFill>
                  <a:schemeClr val="tx1"/>
                </a:solidFill>
              </a:rPr>
              <a:t>The news briefing's tone label for a headline and a fund comes from a model. It never sets a number the person acts on.</a:t>
            </a:r>
            <a:endParaRPr lang="en-US" sz="1400" dirty="0"/>
          </a:p>
        </p:txBody>
      </p:sp>
      <p:sp>
        <p:nvSpPr>
          <p:cNvPr id="19" name="slide3-outro"/>
          <p:cNvSpPr txBox="1"/>
          <p:nvPr/>
        </p:nvSpPr>
        <p:spPr>
          <a:xfrm>
            <a:off x="594360" y="5029200"/>
            <a:ext cx="11002975" cy="548640"/>
          </a:xfrm>
          <a:prstGeom prst="rect">
            <a:avLst/>
          </a:prstGeom>
          <a:noFill/>
          <a:ln/>
        </p:spPr>
        <p:txBody>
          <a:bodyPr wrap="square" lIns="0" tIns="0" rIns="0" bIns="0" rtlCol="0" anchor="t"/>
          <a:lstStyle/>
          <a:p>
            <a:pPr indent="0" marL="0">
              <a:buNone/>
            </a:pPr>
            <a:r>
              <a:rPr lang="en-US" sz="1400" i="1" dirty="0">
                <a:solidFill>
                  <a:srgbClr val="333333"/>
                </a:solidFill>
              </a:rPr>
              <a:t>The Risk Engine re-computes every limit from the weights alone and fails closed on anything unknown.</a:t>
            </a:r>
            <a:endParaRPr lang="en-US" sz="1400" dirty="0"/>
          </a:p>
        </p:txBody>
      </p:sp>
      <p:sp>
        <p:nvSpPr>
          <p:cNvPr id="25" name="Slide Number Placeholder 0"/>
          <p:cNvSpPr>
            <a:spLocks noGrp="1"/>
          </p:cNvSpPr>
          <p:nvPr>
            <p:ph type="sldNum" sz="quarter" idx="4294967295"/>
          </p:nvPr>
        </p:nvSpPr>
        <p:spPr>
          <a:xfrm>
            <a:off x="11048695" y="6473952"/>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77777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1002975" cy="822960"/>
          </a:xfrm>
          <a:prstGeom prst="rect">
            <a:avLst/>
          </a:prstGeom>
          <a:noFill/>
          <a:ln/>
        </p:spPr>
        <p:txBody>
          <a:bodyPr wrap="square" lIns="0" tIns="0" rIns="0" bIns="0" rtlCol="0" anchor="t"/>
          <a:lstStyle/>
          <a:p>
            <a:pPr indent="0" marL="0">
              <a:buNone/>
            </a:pPr>
            <a:r>
              <a:rPr lang="en-US" sz="3000" b="1" dirty="0">
                <a:solidFill>
                  <a:schemeClr val="tx1"/>
                </a:solidFill>
              </a:rPr>
              <a:t>The journey: about ten minutes, five steps</a:t>
            </a:r>
            <a:endParaRPr lang="en-US" sz="3000" dirty="0"/>
          </a:p>
        </p:txBody>
      </p:sp>
      <p:pic>
        <p:nvPicPr>
          <p:cNvPr id="3" name="slide4-img0" descr="C:\Users\NYUAD\AppData\Local\Temp\claude\C--Users-NYUAD-Downloads-FinTechaton\ea8358ed-f283-4dea-9090-adc4a48a45d2\scratchpad\deck\02-questionnaire-phone.png">    </p:cNvPr>
          <p:cNvPicPr>
            <a:picLocks noChangeAspect="1"/>
          </p:cNvPicPr>
          <p:nvPr/>
        </p:nvPicPr>
        <p:blipFill>
          <a:blip r:embed="rId1"/>
          <a:stretch>
            <a:fillRect/>
          </a:stretch>
        </p:blipFill>
        <p:spPr>
          <a:xfrm>
            <a:off x="903203" y="1417320"/>
            <a:ext cx="1436605" cy="3108960"/>
          </a:xfrm>
          <a:prstGeom prst="rect">
            <a:avLst/>
          </a:prstGeom>
        </p:spPr>
      </p:pic>
      <p:sp>
        <p:nvSpPr>
          <p:cNvPr id="4" name="slide4-label0"/>
          <p:cNvSpPr txBox="1"/>
          <p:nvPr/>
        </p:nvSpPr>
        <p:spPr>
          <a:xfrm>
            <a:off x="594360" y="4636008"/>
            <a:ext cx="2054291"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I. Profile</a:t>
            </a:r>
            <a:endParaRPr lang="en-US" sz="1500" dirty="0"/>
          </a:p>
        </p:txBody>
      </p:sp>
      <p:sp>
        <p:nvSpPr>
          <p:cNvPr id="5" name="slide4-cap0"/>
          <p:cNvSpPr txBox="1"/>
          <p:nvPr/>
        </p:nvSpPr>
        <p:spPr>
          <a:xfrm>
            <a:off x="594360" y="5029200"/>
            <a:ext cx="2054291" cy="1097280"/>
          </a:xfrm>
          <a:prstGeom prst="rect">
            <a:avLst/>
          </a:prstGeom>
          <a:noFill/>
          <a:ln/>
        </p:spPr>
        <p:txBody>
          <a:bodyPr wrap="square" lIns="0" tIns="0" rIns="0" bIns="0" rtlCol="0" anchor="t"/>
          <a:lstStyle/>
          <a:p>
            <a:pPr indent="0" marL="0">
              <a:buNone/>
            </a:pPr>
            <a:r>
              <a:rPr lang="en-US" sz="1150" dirty="0">
                <a:solidFill>
                  <a:srgbClr val="333333"/>
                </a:solidFill>
              </a:rPr>
              <a:t>25 questions; two published scales quoted verbatim; a fixed program scores them</a:t>
            </a:r>
            <a:endParaRPr lang="en-US" sz="1150" dirty="0"/>
          </a:p>
        </p:txBody>
      </p:sp>
      <p:pic>
        <p:nvPicPr>
          <p:cNvPr id="6" name="slide4-img1" descr="C:\Users\NYUAD\AppData\Local\Temp\claude\C--Users-NYUAD-Downloads-FinTechaton\ea8358ed-f283-4dea-9090-adc4a48a45d2\scratchpad\deck\03-game-result-phone.png">    </p:cNvPr>
          <p:cNvPicPr>
            <a:picLocks noChangeAspect="1"/>
          </p:cNvPicPr>
          <p:nvPr/>
        </p:nvPicPr>
        <p:blipFill>
          <a:blip r:embed="rId2"/>
          <a:stretch>
            <a:fillRect/>
          </a:stretch>
        </p:blipFill>
        <p:spPr>
          <a:xfrm>
            <a:off x="3140374" y="1417320"/>
            <a:ext cx="1436605" cy="3108960"/>
          </a:xfrm>
          <a:prstGeom prst="rect">
            <a:avLst/>
          </a:prstGeom>
        </p:spPr>
      </p:pic>
      <p:sp>
        <p:nvSpPr>
          <p:cNvPr id="7" name="slide4-label1"/>
          <p:cNvSpPr txBox="1"/>
          <p:nvPr/>
        </p:nvSpPr>
        <p:spPr>
          <a:xfrm>
            <a:off x="2831531" y="4636008"/>
            <a:ext cx="2054291"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II. Risk Game</a:t>
            </a:r>
            <a:endParaRPr lang="en-US" sz="1500" dirty="0"/>
          </a:p>
        </p:txBody>
      </p:sp>
      <p:sp>
        <p:nvSpPr>
          <p:cNvPr id="8" name="slide4-cap1"/>
          <p:cNvSpPr txBox="1"/>
          <p:nvPr/>
        </p:nvSpPr>
        <p:spPr>
          <a:xfrm>
            <a:off x="2831531" y="5029200"/>
            <a:ext cx="2054291" cy="1097280"/>
          </a:xfrm>
          <a:prstGeom prst="rect">
            <a:avLst/>
          </a:prstGeom>
          <a:noFill/>
          <a:ln/>
        </p:spPr>
        <p:txBody>
          <a:bodyPr wrap="square" lIns="0" tIns="0" rIns="0" bIns="0" rtlCol="0" anchor="t"/>
          <a:lstStyle/>
          <a:p>
            <a:pPr indent="0" marL="0">
              <a:buNone/>
            </a:pPr>
            <a:r>
              <a:rPr lang="en-US" sz="1150" dirty="0">
                <a:solidFill>
                  <a:srgbClr val="333333"/>
                </a:solidFill>
              </a:rPr>
              <a:t>Seven rounds and a crash test: how the person behaves, not only what they say</a:t>
            </a:r>
            <a:endParaRPr lang="en-US" sz="1150" dirty="0"/>
          </a:p>
        </p:txBody>
      </p:sp>
      <p:pic>
        <p:nvPicPr>
          <p:cNvPr id="9" name="slide4-img2" descr="C:\Users\NYUAD\AppData\Local\Temp\claude\C--Users-NYUAD-Downloads-FinTechaton\ea8358ed-f283-4dea-9090-adc4a48a45d2\scratchpad\deck\04-interests-counter-phone.png">    </p:cNvPr>
          <p:cNvPicPr>
            <a:picLocks noChangeAspect="1"/>
          </p:cNvPicPr>
          <p:nvPr/>
        </p:nvPicPr>
        <p:blipFill>
          <a:blip r:embed="rId3"/>
          <a:stretch>
            <a:fillRect/>
          </a:stretch>
        </p:blipFill>
        <p:spPr>
          <a:xfrm>
            <a:off x="5377545" y="1417320"/>
            <a:ext cx="1436605" cy="3108960"/>
          </a:xfrm>
          <a:prstGeom prst="rect">
            <a:avLst/>
          </a:prstGeom>
        </p:spPr>
      </p:pic>
      <p:sp>
        <p:nvSpPr>
          <p:cNvPr id="10" name="slide4-label2"/>
          <p:cNvSpPr txBox="1"/>
          <p:nvPr/>
        </p:nvSpPr>
        <p:spPr>
          <a:xfrm>
            <a:off x="5068702" y="4636008"/>
            <a:ext cx="2054291"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III. Investments</a:t>
            </a:r>
            <a:endParaRPr lang="en-US" sz="1500" dirty="0"/>
          </a:p>
        </p:txBody>
      </p:sp>
      <p:sp>
        <p:nvSpPr>
          <p:cNvPr id="11" name="slide4-cap2"/>
          <p:cNvSpPr txBox="1"/>
          <p:nvPr/>
        </p:nvSpPr>
        <p:spPr>
          <a:xfrm>
            <a:off x="5068702" y="5029200"/>
            <a:ext cx="2054291" cy="1097280"/>
          </a:xfrm>
          <a:prstGeom prst="rect">
            <a:avLst/>
          </a:prstGeom>
          <a:noFill/>
          <a:ln/>
        </p:spPr>
        <p:txBody>
          <a:bodyPr wrap="square" lIns="0" tIns="0" rIns="0" bIns="0" rtlCol="0" anchor="t"/>
          <a:lstStyle/>
          <a:p>
            <a:pPr indent="0" marL="0">
              <a:buNone/>
            </a:pPr>
            <a:r>
              <a:rPr lang="en-US" sz="1150" dirty="0">
                <a:solidFill>
                  <a:srgbClr val="333333"/>
                </a:solidFill>
              </a:rPr>
              <a:t>Only what the category allows can be ticked; greyed-out options say why</a:t>
            </a:r>
            <a:endParaRPr lang="en-US" sz="1150" dirty="0"/>
          </a:p>
        </p:txBody>
      </p:sp>
      <p:pic>
        <p:nvPicPr>
          <p:cNvPr id="12" name="slide4-img3" descr="C:\Users\NYUAD\AppData\Local\Temp\claude\C--Users-NYUAD-Downloads-FinTechaton\ea8358ed-f283-4dea-9090-adc4a48a45d2\scratchpad\deck\05-portfolio-summary-phone.png">    </p:cNvPr>
          <p:cNvPicPr>
            <a:picLocks noChangeAspect="1"/>
          </p:cNvPicPr>
          <p:nvPr/>
        </p:nvPicPr>
        <p:blipFill>
          <a:blip r:embed="rId4"/>
          <a:stretch>
            <a:fillRect/>
          </a:stretch>
        </p:blipFill>
        <p:spPr>
          <a:xfrm>
            <a:off x="7614716" y="1417320"/>
            <a:ext cx="1436605" cy="3108960"/>
          </a:xfrm>
          <a:prstGeom prst="rect">
            <a:avLst/>
          </a:prstGeom>
        </p:spPr>
      </p:pic>
      <p:sp>
        <p:nvSpPr>
          <p:cNvPr id="13" name="slide4-label3"/>
          <p:cNvSpPr txBox="1"/>
          <p:nvPr/>
        </p:nvSpPr>
        <p:spPr>
          <a:xfrm>
            <a:off x="7305873" y="4636008"/>
            <a:ext cx="2054291"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IV. Portfolio</a:t>
            </a:r>
            <a:endParaRPr lang="en-US" sz="1500" dirty="0"/>
          </a:p>
        </p:txBody>
      </p:sp>
      <p:sp>
        <p:nvSpPr>
          <p:cNvPr id="14" name="slide4-cap3"/>
          <p:cNvSpPr txBox="1"/>
          <p:nvPr/>
        </p:nvSpPr>
        <p:spPr>
          <a:xfrm>
            <a:off x="7305873" y="5029200"/>
            <a:ext cx="2054291" cy="1097280"/>
          </a:xfrm>
          <a:prstGeom prst="rect">
            <a:avLst/>
          </a:prstGeom>
          <a:noFill/>
          <a:ln/>
        </p:spPr>
        <p:txBody>
          <a:bodyPr wrap="square" lIns="0" tIns="0" rIns="0" bIns="0" rtlCol="0" anchor="t"/>
          <a:lstStyle/>
          <a:p>
            <a:pPr indent="0" marL="0">
              <a:buNone/>
            </a:pPr>
            <a:r>
              <a:rPr lang="en-US" sz="1150" dirty="0">
                <a:solidFill>
                  <a:srgbClr val="333333"/>
                </a:solidFill>
              </a:rPr>
              <a:t>Approved by the Risk Engine; the goal chance as N in 100 simulated futures</a:t>
            </a:r>
            <a:endParaRPr lang="en-US" sz="1150" dirty="0"/>
          </a:p>
        </p:txBody>
      </p:sp>
      <p:pic>
        <p:nvPicPr>
          <p:cNvPr id="15" name="slide4-img4" descr="C:\Users\NYUAD\AppData\Local\Temp\claude\C--Users-NYUAD-Downloads-FinTechaton\ea8358ed-f283-4dea-9090-adc4a48a45d2\scratchpad\deck\10-verify-proof-phone.png">    </p:cNvPr>
          <p:cNvPicPr>
            <a:picLocks noChangeAspect="1"/>
          </p:cNvPicPr>
          <p:nvPr/>
        </p:nvPicPr>
        <p:blipFill>
          <a:blip r:embed="rId5"/>
          <a:stretch>
            <a:fillRect/>
          </a:stretch>
        </p:blipFill>
        <p:spPr>
          <a:xfrm>
            <a:off x="9851887" y="1417320"/>
            <a:ext cx="1436605" cy="3108960"/>
          </a:xfrm>
          <a:prstGeom prst="rect">
            <a:avLst/>
          </a:prstGeom>
        </p:spPr>
      </p:pic>
      <p:sp>
        <p:nvSpPr>
          <p:cNvPr id="16" name="slide4-label4"/>
          <p:cNvSpPr txBox="1"/>
          <p:nvPr/>
        </p:nvSpPr>
        <p:spPr>
          <a:xfrm>
            <a:off x="9543044" y="4636008"/>
            <a:ext cx="2054291"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V. Review and seal</a:t>
            </a:r>
            <a:endParaRPr lang="en-US" sz="1500" dirty="0"/>
          </a:p>
        </p:txBody>
      </p:sp>
      <p:sp>
        <p:nvSpPr>
          <p:cNvPr id="17" name="slide4-cap4"/>
          <p:cNvSpPr txBox="1"/>
          <p:nvPr/>
        </p:nvSpPr>
        <p:spPr>
          <a:xfrm>
            <a:off x="9543044" y="5029200"/>
            <a:ext cx="2054291" cy="1097280"/>
          </a:xfrm>
          <a:prstGeom prst="rect">
            <a:avLst/>
          </a:prstGeom>
          <a:noFill/>
          <a:ln/>
        </p:spPr>
        <p:txBody>
          <a:bodyPr wrap="square" lIns="0" tIns="0" rIns="0" bIns="0" rtlCol="0" anchor="t"/>
          <a:lstStyle/>
          <a:p>
            <a:pPr indent="0" marL="0">
              <a:buNone/>
            </a:pPr>
            <a:r>
              <a:rPr lang="en-US" sz="1150" dirty="0">
                <a:solidFill>
                  <a:srgbClr val="333333"/>
                </a:solidFill>
              </a:rPr>
              <a:t>The independent checks, then Confirm and seal, then Verify a report</a:t>
            </a:r>
            <a:endParaRPr lang="en-US" sz="1150" dirty="0"/>
          </a:p>
        </p:txBody>
      </p:sp>
      <p:sp>
        <p:nvSpPr>
          <p:cNvPr id="25" name="Slide Number Placeholder 0"/>
          <p:cNvSpPr>
            <a:spLocks noGrp="1"/>
          </p:cNvSpPr>
          <p:nvPr>
            <p:ph type="sldNum" sz="quarter" idx="4294967295"/>
          </p:nvPr>
        </p:nvSpPr>
        <p:spPr>
          <a:xfrm>
            <a:off x="11048695" y="6473952"/>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777777"/>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1002975" cy="822960"/>
          </a:xfrm>
          <a:prstGeom prst="rect">
            <a:avLst/>
          </a:prstGeom>
          <a:noFill/>
          <a:ln/>
        </p:spPr>
        <p:txBody>
          <a:bodyPr wrap="square" lIns="0" tIns="0" rIns="0" bIns="0" rtlCol="0" anchor="t"/>
          <a:lstStyle/>
          <a:p>
            <a:pPr indent="0" marL="0">
              <a:buNone/>
            </a:pPr>
            <a:r>
              <a:rPr lang="en-US" sz="3000" b="1" dirty="0">
                <a:solidFill>
                  <a:schemeClr val="tx1"/>
                </a:solidFill>
              </a:rPr>
              <a:t>Suitability by design: the lower of willing and able</a:t>
            </a:r>
            <a:endParaRPr lang="en-US" sz="3000" dirty="0"/>
          </a:p>
        </p:txBody>
      </p:sp>
      <p:sp>
        <p:nvSpPr>
          <p:cNvPr id="3" name="slide5-left"/>
          <p:cNvSpPr txBox="1"/>
          <p:nvPr/>
        </p:nvSpPr>
        <p:spPr>
          <a:xfrm>
            <a:off x="594360" y="1417320"/>
            <a:ext cx="5852160" cy="4754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Category C1 (most careful) to C5 = the LOWER of capacity (what the finances allow) and attitude to risk</a:t>
            </a:r>
            <a:endParaRPr lang="en-US" sz="1400" dirty="0"/>
          </a:p>
          <a:p>
            <a:pPr marL="342900" indent="-342900">
              <a:spcAft>
                <a:spcPts val="600"/>
              </a:spcAft>
              <a:buSzPct val="100000"/>
              <a:buChar char="•"/>
            </a:pPr>
            <a:r>
              <a:rPr lang="en-US" sz="1400" dirty="0">
                <a:solidFill>
                  <a:schemeClr val="tx1"/>
                </a:solidFill>
              </a:rPr>
              <a:t>Attitude = two thirds questionnaire + one third Risk Game; a bold game can never pass the capacity cap</a:t>
            </a:r>
            <a:endParaRPr lang="en-US" sz="1400" dirty="0"/>
          </a:p>
          <a:p>
            <a:pPr marL="342900" indent="-342900">
              <a:spcAft>
                <a:spcPts val="600"/>
              </a:spcAft>
              <a:buSzPct val="100000"/>
              <a:buChar char="•"/>
            </a:pPr>
            <a:r>
              <a:rPr lang="en-US" sz="1400" dirty="0">
                <a:solidFill>
                  <a:schemeClr val="tx1"/>
                </a:solidFill>
              </a:rPr>
              <a:t>"I could not accept any loss" always gives C1</a:t>
            </a:r>
            <a:endParaRPr lang="en-US" sz="1400" dirty="0"/>
          </a:p>
          <a:p>
            <a:pPr marL="342900" indent="-342900">
              <a:spcAft>
                <a:spcPts val="600"/>
              </a:spcAft>
              <a:buSzPct val="100000"/>
              <a:buChar char="•"/>
            </a:pPr>
            <a:r>
              <a:rPr lang="en-US" sz="1400" dirty="0">
                <a:solidFill>
                  <a:schemeClr val="tx1"/>
                </a:solidFill>
              </a:rPr>
              <a:t>Attitude: Grable and Lytton's 13-item scale, verbatim. Knowledge: Lusardi and Mitchell's Big Three; it restricts complex products, never the category</a:t>
            </a:r>
            <a:endParaRPr lang="en-US" sz="1400" dirty="0"/>
          </a:p>
          <a:p>
            <a:pPr marL="342900" indent="-342900">
              <a:spcAft>
                <a:spcPts val="600"/>
              </a:spcAft>
              <a:buSzPct val="100000"/>
              <a:buChar char="•"/>
            </a:pPr>
            <a:r>
              <a:rPr lang="en-US" sz="1400" dirty="0">
                <a:solidFill>
                  <a:schemeClr val="tx1"/>
                </a:solidFill>
              </a:rPr>
              <a:t>Capacity averages horizon, savings, share of wealth and income; money that must come back and a short horizon are hard caps</a:t>
            </a:r>
            <a:endParaRPr lang="en-US" sz="1400" dirty="0"/>
          </a:p>
          <a:p>
            <a:pPr marL="342900" indent="-342900">
              <a:spcAft>
                <a:spcPts val="600"/>
              </a:spcAft>
              <a:buSzPct val="100000"/>
              <a:buChar char="•"/>
            </a:pPr>
            <a:r>
              <a:rPr lang="en-US" sz="1400" dirty="0">
                <a:solidFill>
                  <a:schemeClr val="tx1"/>
                </a:solidFill>
              </a:rPr>
              <a:t>Product risk levels R1 to R5: a Cn client may hold up to Rn</a:t>
            </a:r>
            <a:endParaRPr lang="en-US" sz="1400" dirty="0"/>
          </a:p>
        </p:txBody>
      </p:sp>
      <p:graphicFrame>
        <p:nvGraphicFramePr>
          <p:cNvPr id="6" name="slide5-table"/>
          <p:cNvGraphicFramePr>
            <a:graphicFrameLocks noGrp="1"/>
          </p:cNvGraphicFramePr>
          <p:nvPr>
            <p:extLst>
              <p:ext uri="{D42A27DB-BD31-4B8C-83A1-F6EECF244321}">
                <p14:modId xmlns:p14="http://schemas.microsoft.com/office/powerpoint/2010/main" val="1579011935"/>
              </p:ext>
            </p:extLst>
          </p:nvPr>
        </p:nvGraphicFramePr>
        <p:xfrm>
          <a:off x="6812280" y="1417320"/>
          <a:ext cx="4785055" cy="914400"/>
        </p:xfrm>
        <a:graphic>
          <a:graphicData uri="http://schemas.openxmlformats.org/drawingml/2006/table">
            <a:tbl>
              <a:tblPr/>
              <a:tblGrid>
                <a:gridCol w="957011"/>
                <a:gridCol w="957011"/>
                <a:gridCol w="957011"/>
                <a:gridCol w="957011"/>
                <a:gridCol w="957011"/>
              </a:tblGrid>
              <a:tr h="0">
                <a:tc>
                  <a:txBody>
                    <a:bodyPr/>
                    <a:lstStyle/>
                    <a:p>
                      <a:pPr indent="0" marL="0">
                        <a:buNone/>
                      </a:pPr>
                      <a:r>
                        <a:rPr lang="en-US" sz="1300" b="1" dirty="0">
                          <a:solidFill>
                            <a:srgbClr val="111111"/>
                          </a:solidFill>
                        </a:rPr>
                        <a:t>Category</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9E9E9"/>
                    </a:solidFill>
                  </a:tcPr>
                </a:tc>
                <a:tc>
                  <a:txBody>
                    <a:bodyPr/>
                    <a:lstStyle/>
                    <a:p>
                      <a:pPr indent="0" marL="0">
                        <a:buNone/>
                      </a:pPr>
                      <a:r>
                        <a:rPr lang="en-US" sz="1300" b="1" dirty="0">
                          <a:solidFill>
                            <a:srgbClr val="111111"/>
                          </a:solidFill>
                        </a:rPr>
                        <a:t>Product level</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9E9E9"/>
                    </a:solidFill>
                  </a:tcPr>
                </a:tc>
                <a:tc>
                  <a:txBody>
                    <a:bodyPr/>
                    <a:lstStyle/>
                    <a:p>
                      <a:pPr indent="0" marL="0">
                        <a:buNone/>
                      </a:pPr>
                      <a:r>
                        <a:rPr lang="en-US" sz="1300" b="1" dirty="0">
                          <a:solidFill>
                            <a:srgbClr val="111111"/>
                          </a:solidFill>
                        </a:rPr>
                        <a:t>Stocks</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9E9E9"/>
                    </a:solidFill>
                  </a:tcPr>
                </a:tc>
                <a:tc>
                  <a:txBody>
                    <a:bodyPr/>
                    <a:lstStyle/>
                    <a:p>
                      <a:pPr indent="0" marL="0">
                        <a:buNone/>
                      </a:pPr>
                      <a:r>
                        <a:rPr lang="en-US" sz="1300" b="1" dirty="0">
                          <a:solidFill>
                            <a:srgbClr val="111111"/>
                          </a:solidFill>
                        </a:rPr>
                        <a:t>Crypto</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9E9E9"/>
                    </a:solidFill>
                  </a:tcPr>
                </a:tc>
                <a:tc>
                  <a:txBody>
                    <a:bodyPr/>
                    <a:lstStyle/>
                    <a:p>
                      <a:pPr indent="0" marL="0">
                        <a:buNone/>
                      </a:pPr>
                      <a:r>
                        <a:rPr lang="en-US" sz="1300" b="1" dirty="0">
                          <a:solidFill>
                            <a:srgbClr val="111111"/>
                          </a:solidFill>
                        </a:rPr>
                        <a:t>Loss limit in a severe fall</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E9E9E9"/>
                    </a:solidFill>
                  </a:tcPr>
                </a:tc>
              </a:tr>
              <a:tr h="0">
                <a:tc>
                  <a:txBody>
                    <a:bodyPr/>
                    <a:lstStyle/>
                    <a:p>
                      <a:pPr indent="0" marL="0">
                        <a:buNone/>
                      </a:pPr>
                      <a:r>
                        <a:rPr lang="en-US" sz="1300" dirty="0">
                          <a:solidFill>
                            <a:srgbClr val="111111"/>
                          </a:solidFill>
                        </a:rPr>
                        <a:t>C1</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R1</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0%</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0%</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5%</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r>
              <a:tr h="0">
                <a:tc>
                  <a:txBody>
                    <a:bodyPr/>
                    <a:lstStyle/>
                    <a:p>
                      <a:pPr indent="0" marL="0">
                        <a:buNone/>
                      </a:pPr>
                      <a:r>
                        <a:rPr lang="en-US" sz="1300" dirty="0">
                          <a:solidFill>
                            <a:srgbClr val="111111"/>
                          </a:solidFill>
                        </a:rPr>
                        <a:t>C2</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R2</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0%</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0%</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10%</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r>
              <a:tr h="0">
                <a:tc>
                  <a:txBody>
                    <a:bodyPr/>
                    <a:lstStyle/>
                    <a:p>
                      <a:pPr indent="0" marL="0">
                        <a:buNone/>
                      </a:pPr>
                      <a:r>
                        <a:rPr lang="en-US" sz="1300" dirty="0">
                          <a:solidFill>
                            <a:srgbClr val="111111"/>
                          </a:solidFill>
                        </a:rPr>
                        <a:t>C3</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R3</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40%</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0%</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20%</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r>
              <a:tr h="0">
                <a:tc>
                  <a:txBody>
                    <a:bodyPr/>
                    <a:lstStyle/>
                    <a:p>
                      <a:pPr indent="0" marL="0">
                        <a:buNone/>
                      </a:pPr>
                      <a:r>
                        <a:rPr lang="en-US" sz="1300" dirty="0">
                          <a:solidFill>
                            <a:srgbClr val="111111"/>
                          </a:solidFill>
                        </a:rPr>
                        <a:t>C4</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R4</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70%</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0%</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35%</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r>
              <a:tr h="0">
                <a:tc>
                  <a:txBody>
                    <a:bodyPr/>
                    <a:lstStyle/>
                    <a:p>
                      <a:pPr indent="0" marL="0">
                        <a:buNone/>
                      </a:pPr>
                      <a:r>
                        <a:rPr lang="en-US" sz="1300" dirty="0">
                          <a:solidFill>
                            <a:srgbClr val="111111"/>
                          </a:solidFill>
                        </a:rPr>
                        <a:t>C5</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R5</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90%</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5%</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c>
                  <a:txBody>
                    <a:bodyPr/>
                    <a:lstStyle/>
                    <a:p>
                      <a:pPr indent="0" marL="0">
                        <a:buNone/>
                      </a:pPr>
                      <a:r>
                        <a:rPr lang="en-US" sz="1300" dirty="0">
                          <a:solidFill>
                            <a:srgbClr val="111111"/>
                          </a:solidFill>
                        </a:rPr>
                        <a:t>45%</a:t>
                      </a:r>
                      <a:endParaRPr lang="en-US" sz="1300" dirty="0"/>
                    </a:p>
                  </a:txBody>
                  <a:tcPr marL="54864" marR="54864" marT="54864" marB="54864">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tcPr>
                </a:tc>
              </a:tr>
            </a:tbl>
          </a:graphicData>
        </a:graphic>
      </p:graphicFrame>
      <p:sp>
        <p:nvSpPr>
          <p:cNvPr id="5" name="slide5-tcap"/>
          <p:cNvSpPr txBox="1"/>
          <p:nvPr/>
        </p:nvSpPr>
        <p:spPr>
          <a:xfrm>
            <a:off x="6812280" y="4160520"/>
            <a:ext cx="4785055" cy="914400"/>
          </a:xfrm>
          <a:prstGeom prst="rect">
            <a:avLst/>
          </a:prstGeom>
          <a:noFill/>
          <a:ln/>
        </p:spPr>
        <p:txBody>
          <a:bodyPr wrap="square" lIns="0" tIns="0" rIns="0" bIns="0" rtlCol="0" anchor="t"/>
          <a:lstStyle/>
          <a:p>
            <a:pPr indent="0" marL="0">
              <a:buNone/>
            </a:pPr>
            <a:r>
              <a:rPr lang="en-US" sz="1100" dirty="0">
                <a:solidFill>
                  <a:srgbClr val="555555"/>
                </a:solidFill>
              </a:rPr>
              <a:t>Provisional placeholders in one configuration file; a bank replaces them with its approved table. Every report carries a DRAFT LIMITS banner.</a:t>
            </a:r>
            <a:endParaRPr lang="en-US" sz="1100" dirty="0"/>
          </a:p>
        </p:txBody>
      </p:sp>
      <p:sp>
        <p:nvSpPr>
          <p:cNvPr id="25" name="Slide Number Placeholder 0"/>
          <p:cNvSpPr>
            <a:spLocks noGrp="1"/>
          </p:cNvSpPr>
          <p:nvPr>
            <p:ph type="sldNum" sz="quarter" idx="4294967295"/>
          </p:nvPr>
        </p:nvSpPr>
        <p:spPr>
          <a:xfrm>
            <a:off x="11048695" y="6473952"/>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77777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1002975" cy="822960"/>
          </a:xfrm>
          <a:prstGeom prst="rect">
            <a:avLst/>
          </a:prstGeom>
          <a:noFill/>
          <a:ln/>
        </p:spPr>
        <p:txBody>
          <a:bodyPr wrap="square" lIns="0" tIns="0" rIns="0" bIns="0" rtlCol="0" anchor="t"/>
          <a:lstStyle/>
          <a:p>
            <a:pPr indent="0" marL="0">
              <a:buNone/>
            </a:pPr>
            <a:r>
              <a:rPr lang="en-US" sz="3000" b="1" dirty="0">
                <a:solidFill>
                  <a:schemeClr val="tx1"/>
                </a:solidFill>
              </a:rPr>
              <a:t>Six specialised parts, one independent check</a:t>
            </a:r>
            <a:endParaRPr lang="en-US" sz="3000" dirty="0"/>
          </a:p>
        </p:txBody>
      </p:sp>
      <p:sp>
        <p:nvSpPr>
          <p:cNvPr id="3" name="slide6-box-q"/>
          <p:cNvSpPr/>
          <p:nvPr/>
        </p:nvSpPr>
        <p:spPr>
          <a:xfrm>
            <a:off x="4383938" y="1417320"/>
            <a:ext cx="3423818" cy="777240"/>
          </a:xfrm>
          <a:prstGeom prst="rect">
            <a:avLst/>
          </a:prstGeom>
          <a:solidFill>
            <a:srgbClr val="F1F1F1"/>
          </a:solidFill>
          <a:ln w="12700">
            <a:solidFill>
              <a:srgbClr val="F1F1F1"/>
            </a:solidFill>
            <a:prstDash val="solid"/>
          </a:ln>
        </p:spPr>
      </p:sp>
      <p:sp>
        <p:nvSpPr>
          <p:cNvPr id="4" name="slide6-boxtext-q"/>
          <p:cNvSpPr txBox="1"/>
          <p:nvPr/>
        </p:nvSpPr>
        <p:spPr>
          <a:xfrm>
            <a:off x="4493666" y="1490472"/>
            <a:ext cx="3204362" cy="630936"/>
          </a:xfrm>
          <a:prstGeom prst="rect">
            <a:avLst/>
          </a:prstGeom>
          <a:noFill/>
          <a:ln/>
        </p:spPr>
        <p:txBody>
          <a:bodyPr wrap="square" lIns="0" tIns="0" rIns="0" bIns="0" rtlCol="0" anchor="t"/>
          <a:lstStyle/>
          <a:p>
            <a:pPr indent="0" marL="0">
              <a:buNone/>
            </a:pPr>
            <a:r>
              <a:rPr lang="en-US" sz="1400" b="1" dirty="0">
                <a:solidFill>
                  <a:srgbClr val="111111"/>
                </a:solidFill>
                <a:latin typeface="Cambria" pitchFamily="34" charset="0"/>
                <a:ea typeface="Cambria" pitchFamily="34" charset="-122"/>
                <a:cs typeface="Cambria" pitchFamily="34" charset="-120"/>
              </a:rPr>
              <a:t>Questionnaire + Risk Game</a:t>
            </a:r>
            <a:endParaRPr lang="en-US" sz="1400" dirty="0"/>
          </a:p>
          <a:p>
            <a:pPr indent="0" marL="0">
              <a:buNone/>
            </a:pPr>
            <a:r>
              <a:rPr lang="en-US" sz="1150" dirty="0">
                <a:solidFill>
                  <a:srgbClr val="111111"/>
                </a:solidFill>
              </a:rPr>
              <a:t>category C1 to C5, numeric limits (deterministic code)</a:t>
            </a:r>
            <a:endParaRPr lang="en-US" sz="1400" dirty="0"/>
          </a:p>
        </p:txBody>
      </p:sp>
      <p:sp>
        <p:nvSpPr>
          <p:cNvPr id="5" name="slide6-arrow-↓4.794333333333333"/>
          <p:cNvSpPr txBox="1"/>
          <p:nvPr/>
        </p:nvSpPr>
        <p:spPr>
          <a:xfrm>
            <a:off x="4383938" y="2194560"/>
            <a:ext cx="3423818" cy="274320"/>
          </a:xfrm>
          <a:prstGeom prst="rect">
            <a:avLst/>
          </a:prstGeom>
          <a:noFill/>
          <a:ln/>
        </p:spPr>
        <p:txBody>
          <a:bodyPr wrap="square" lIns="0" tIns="0" rIns="0" bIns="0" rtlCol="0" anchor="ctr"/>
          <a:lstStyle/>
          <a:p>
            <a:pPr algn="ctr" indent="0" marL="0">
              <a:buNone/>
            </a:pPr>
            <a:r>
              <a:rPr lang="en-US" sz="2200" dirty="0">
                <a:solidFill>
                  <a:srgbClr val="333333"/>
                </a:solidFill>
              </a:rPr>
              <a:t>↓</a:t>
            </a:r>
            <a:endParaRPr lang="en-US" sz="2200" dirty="0"/>
          </a:p>
        </p:txBody>
      </p:sp>
      <p:sp>
        <p:nvSpPr>
          <p:cNvPr id="6" name="slide6-box-c"/>
          <p:cNvSpPr/>
          <p:nvPr/>
        </p:nvSpPr>
        <p:spPr>
          <a:xfrm>
            <a:off x="594360" y="2468880"/>
            <a:ext cx="3423818" cy="1417320"/>
          </a:xfrm>
          <a:prstGeom prst="rect">
            <a:avLst/>
          </a:prstGeom>
          <a:solidFill>
            <a:srgbClr val="F1F1F1"/>
          </a:solidFill>
          <a:ln w="12700">
            <a:solidFill>
              <a:srgbClr val="F1F1F1"/>
            </a:solidFill>
            <a:prstDash val="solid"/>
          </a:ln>
        </p:spPr>
      </p:sp>
      <p:sp>
        <p:nvSpPr>
          <p:cNvPr id="7" name="slide6-boxtext-c"/>
          <p:cNvSpPr txBox="1"/>
          <p:nvPr/>
        </p:nvSpPr>
        <p:spPr>
          <a:xfrm>
            <a:off x="704088" y="2542032"/>
            <a:ext cx="3204362" cy="1271016"/>
          </a:xfrm>
          <a:prstGeom prst="rect">
            <a:avLst/>
          </a:prstGeom>
          <a:noFill/>
          <a:ln/>
        </p:spPr>
        <p:txBody>
          <a:bodyPr wrap="square" lIns="0" tIns="0" rIns="0" bIns="0" rtlCol="0" anchor="t"/>
          <a:lstStyle/>
          <a:p>
            <a:pPr indent="0" marL="0">
              <a:buNone/>
            </a:pPr>
            <a:r>
              <a:rPr lang="en-US" sz="1400" b="1" dirty="0">
                <a:solidFill>
                  <a:srgbClr val="111111"/>
                </a:solidFill>
                <a:latin typeface="Cambria" pitchFamily="34" charset="0"/>
                <a:ea typeface="Cambria" pitchFamily="34" charset="-122"/>
                <a:cs typeface="Cambria" pitchFamily="34" charset="-120"/>
              </a:rPr>
              <a:t>Agent C · market intelligence</a:t>
            </a:r>
            <a:endParaRPr lang="en-US" sz="1400" dirty="0"/>
          </a:p>
          <a:p>
            <a:pPr indent="0" marL="0">
              <a:buNone/>
            </a:pPr>
            <a:r>
              <a:rPr lang="en-US" sz="1150" dirty="0">
                <a:solidFill>
                  <a:srgbClr val="111111"/>
                </a:solidFill>
              </a:rPr>
              <a:t>allowed universe per category and platform; real prices (committed snapshot of 292 tickers, about 19 years); data provenance</a:t>
            </a:r>
            <a:endParaRPr lang="en-US" sz="1400" dirty="0"/>
          </a:p>
        </p:txBody>
      </p:sp>
      <p:sp>
        <p:nvSpPr>
          <p:cNvPr id="8" name="slide6-arrow-→4.394333333333333"/>
          <p:cNvSpPr txBox="1"/>
          <p:nvPr/>
        </p:nvSpPr>
        <p:spPr>
          <a:xfrm>
            <a:off x="4018178" y="2468880"/>
            <a:ext cx="365760" cy="1417320"/>
          </a:xfrm>
          <a:prstGeom prst="rect">
            <a:avLst/>
          </a:prstGeom>
          <a:noFill/>
          <a:ln/>
        </p:spPr>
        <p:txBody>
          <a:bodyPr wrap="square" lIns="0" tIns="0" rIns="0" bIns="0" rtlCol="0" anchor="ctr"/>
          <a:lstStyle/>
          <a:p>
            <a:pPr algn="ctr" indent="0" marL="0">
              <a:buNone/>
            </a:pPr>
            <a:r>
              <a:rPr lang="en-US" sz="2200" dirty="0">
                <a:solidFill>
                  <a:srgbClr val="333333"/>
                </a:solidFill>
              </a:rPr>
              <a:t>→</a:t>
            </a:r>
            <a:endParaRPr lang="en-US" sz="2200" dirty="0"/>
          </a:p>
        </p:txBody>
      </p:sp>
      <p:sp>
        <p:nvSpPr>
          <p:cNvPr id="9" name="slide6-box-a"/>
          <p:cNvSpPr/>
          <p:nvPr/>
        </p:nvSpPr>
        <p:spPr>
          <a:xfrm>
            <a:off x="4383938" y="2468880"/>
            <a:ext cx="3423818" cy="1417320"/>
          </a:xfrm>
          <a:prstGeom prst="rect">
            <a:avLst/>
          </a:prstGeom>
          <a:solidFill>
            <a:srgbClr val="F1F1F1"/>
          </a:solidFill>
          <a:ln w="12700">
            <a:solidFill>
              <a:srgbClr val="F1F1F1"/>
            </a:solidFill>
            <a:prstDash val="solid"/>
          </a:ln>
        </p:spPr>
      </p:sp>
      <p:sp>
        <p:nvSpPr>
          <p:cNvPr id="10" name="slide6-boxtext-a"/>
          <p:cNvSpPr txBox="1"/>
          <p:nvPr/>
        </p:nvSpPr>
        <p:spPr>
          <a:xfrm>
            <a:off x="4493666" y="2542032"/>
            <a:ext cx="3204362" cy="1271016"/>
          </a:xfrm>
          <a:prstGeom prst="rect">
            <a:avLst/>
          </a:prstGeom>
          <a:noFill/>
          <a:ln/>
        </p:spPr>
        <p:txBody>
          <a:bodyPr wrap="square" lIns="0" tIns="0" rIns="0" bIns="0" rtlCol="0" anchor="t"/>
          <a:lstStyle/>
          <a:p>
            <a:pPr indent="0" marL="0">
              <a:buNone/>
            </a:pPr>
            <a:r>
              <a:rPr lang="en-US" sz="1400" b="1" dirty="0">
                <a:solidFill>
                  <a:srgbClr val="111111"/>
                </a:solidFill>
                <a:latin typeface="Cambria" pitchFamily="34" charset="0"/>
                <a:ea typeface="Cambria" pitchFamily="34" charset="-122"/>
                <a:cs typeface="Cambria" pitchFamily="34" charset="-120"/>
              </a:rPr>
              <a:t>Agent A · quant</a:t>
            </a:r>
            <a:endParaRPr lang="en-US" sz="1400" dirty="0"/>
          </a:p>
          <a:p>
            <a:pPr indent="0" marL="0">
              <a:buNone/>
            </a:pPr>
            <a:r>
              <a:rPr lang="en-US" sz="1150" dirty="0">
                <a:solidFill>
                  <a:srgbClr val="111111"/>
                </a:solidFill>
              </a:rPr>
              <a:t>about 100 candidate portfolios (20 risk points x 5 styles) inside every hard limit; goal simulation on 10,000 futures</a:t>
            </a:r>
            <a:endParaRPr lang="en-US" sz="1400" dirty="0"/>
          </a:p>
        </p:txBody>
      </p:sp>
      <p:sp>
        <p:nvSpPr>
          <p:cNvPr id="11" name="slide6-arrow-←8.538666666666666"/>
          <p:cNvSpPr txBox="1"/>
          <p:nvPr/>
        </p:nvSpPr>
        <p:spPr>
          <a:xfrm>
            <a:off x="7807757" y="2468880"/>
            <a:ext cx="365760" cy="1417320"/>
          </a:xfrm>
          <a:prstGeom prst="rect">
            <a:avLst/>
          </a:prstGeom>
          <a:noFill/>
          <a:ln/>
        </p:spPr>
        <p:txBody>
          <a:bodyPr wrap="square" lIns="0" tIns="0" rIns="0" bIns="0" rtlCol="0" anchor="ctr"/>
          <a:lstStyle/>
          <a:p>
            <a:pPr algn="ctr" indent="0" marL="0">
              <a:buNone/>
            </a:pPr>
            <a:r>
              <a:rPr lang="en-US" sz="2200" dirty="0">
                <a:solidFill>
                  <a:srgbClr val="333333"/>
                </a:solidFill>
              </a:rPr>
              <a:t>←</a:t>
            </a:r>
            <a:endParaRPr lang="en-US" sz="2200" dirty="0"/>
          </a:p>
        </p:txBody>
      </p:sp>
      <p:sp>
        <p:nvSpPr>
          <p:cNvPr id="12" name="slide6-box-b"/>
          <p:cNvSpPr/>
          <p:nvPr/>
        </p:nvSpPr>
        <p:spPr>
          <a:xfrm>
            <a:off x="8173517" y="2468880"/>
            <a:ext cx="3423818" cy="1417320"/>
          </a:xfrm>
          <a:prstGeom prst="rect">
            <a:avLst/>
          </a:prstGeom>
          <a:solidFill>
            <a:srgbClr val="F1F1F1"/>
          </a:solidFill>
          <a:ln w="12700">
            <a:solidFill>
              <a:srgbClr val="F1F1F1"/>
            </a:solidFill>
            <a:prstDash val="solid"/>
          </a:ln>
        </p:spPr>
      </p:sp>
      <p:sp>
        <p:nvSpPr>
          <p:cNvPr id="13" name="slide6-boxtext-b"/>
          <p:cNvSpPr txBox="1"/>
          <p:nvPr/>
        </p:nvSpPr>
        <p:spPr>
          <a:xfrm>
            <a:off x="8283245" y="2542032"/>
            <a:ext cx="3204362" cy="1271016"/>
          </a:xfrm>
          <a:prstGeom prst="rect">
            <a:avLst/>
          </a:prstGeom>
          <a:noFill/>
          <a:ln/>
        </p:spPr>
        <p:txBody>
          <a:bodyPr wrap="square" lIns="0" tIns="0" rIns="0" bIns="0" rtlCol="0" anchor="t"/>
          <a:lstStyle/>
          <a:p>
            <a:pPr indent="0" marL="0">
              <a:buNone/>
            </a:pPr>
            <a:r>
              <a:rPr lang="en-US" sz="1400" b="1" dirty="0">
                <a:solidFill>
                  <a:srgbClr val="111111"/>
                </a:solidFill>
                <a:latin typeface="Cambria" pitchFamily="34" charset="0"/>
                <a:ea typeface="Cambria" pitchFamily="34" charset="-122"/>
                <a:cs typeface="Cambria" pitchFamily="34" charset="-120"/>
              </a:rPr>
              <a:t>Agent B · behavioural twin</a:t>
            </a:r>
            <a:endParaRPr lang="en-US" sz="1400" dirty="0"/>
          </a:p>
          <a:p>
            <a:pPr indent="0" marL="0">
              <a:buNone/>
            </a:pPr>
            <a:r>
              <a:rPr lang="en-US" sz="1150" dirty="0">
                <a:solidFill>
                  <a:srgbClr val="111111"/>
                </a:solidFill>
              </a:rPr>
              <a:t>IBKR trade history, crash test; returns limits that can ONLY tighten</a:t>
            </a:r>
            <a:endParaRPr lang="en-US" sz="1400" dirty="0"/>
          </a:p>
        </p:txBody>
      </p:sp>
      <p:sp>
        <p:nvSpPr>
          <p:cNvPr id="14" name="slide6-arrow-↓4.794333333333333"/>
          <p:cNvSpPr txBox="1"/>
          <p:nvPr/>
        </p:nvSpPr>
        <p:spPr>
          <a:xfrm>
            <a:off x="4383938" y="3886200"/>
            <a:ext cx="3423818" cy="274320"/>
          </a:xfrm>
          <a:prstGeom prst="rect">
            <a:avLst/>
          </a:prstGeom>
          <a:noFill/>
          <a:ln/>
        </p:spPr>
        <p:txBody>
          <a:bodyPr wrap="square" lIns="0" tIns="0" rIns="0" bIns="0" rtlCol="0" anchor="ctr"/>
          <a:lstStyle/>
          <a:p>
            <a:pPr algn="ctr" indent="0" marL="0">
              <a:buNone/>
            </a:pPr>
            <a:r>
              <a:rPr lang="en-US" sz="2200" dirty="0">
                <a:solidFill>
                  <a:srgbClr val="333333"/>
                </a:solidFill>
              </a:rPr>
              <a:t>↓</a:t>
            </a:r>
            <a:endParaRPr lang="en-US" sz="2200" dirty="0"/>
          </a:p>
        </p:txBody>
      </p:sp>
      <p:sp>
        <p:nvSpPr>
          <p:cNvPr id="15" name="slide6-box-d"/>
          <p:cNvSpPr/>
          <p:nvPr/>
        </p:nvSpPr>
        <p:spPr>
          <a:xfrm>
            <a:off x="594360" y="4160520"/>
            <a:ext cx="3423818" cy="1188720"/>
          </a:xfrm>
          <a:prstGeom prst="rect">
            <a:avLst/>
          </a:prstGeom>
          <a:solidFill>
            <a:srgbClr val="F1F1F1"/>
          </a:solidFill>
          <a:ln w="12700">
            <a:solidFill>
              <a:srgbClr val="F1F1F1"/>
            </a:solidFill>
            <a:prstDash val="solid"/>
          </a:ln>
        </p:spPr>
      </p:sp>
      <p:sp>
        <p:nvSpPr>
          <p:cNvPr id="16" name="slide6-boxtext-d"/>
          <p:cNvSpPr txBox="1"/>
          <p:nvPr/>
        </p:nvSpPr>
        <p:spPr>
          <a:xfrm>
            <a:off x="704088" y="4233672"/>
            <a:ext cx="3204362" cy="1042416"/>
          </a:xfrm>
          <a:prstGeom prst="rect">
            <a:avLst/>
          </a:prstGeom>
          <a:noFill/>
          <a:ln/>
        </p:spPr>
        <p:txBody>
          <a:bodyPr wrap="square" lIns="0" tIns="0" rIns="0" bIns="0" rtlCol="0" anchor="t"/>
          <a:lstStyle/>
          <a:p>
            <a:pPr indent="0" marL="0">
              <a:buNone/>
            </a:pPr>
            <a:r>
              <a:rPr lang="en-US" sz="1400" b="1" dirty="0">
                <a:solidFill>
                  <a:srgbClr val="111111"/>
                </a:solidFill>
                <a:latin typeface="Cambria" pitchFamily="34" charset="0"/>
                <a:ea typeface="Cambria" pitchFamily="34" charset="-122"/>
                <a:cs typeface="Cambria" pitchFamily="34" charset="-120"/>
              </a:rPr>
              <a:t>Agent D · news briefing</a:t>
            </a:r>
            <a:endParaRPr lang="en-US" sz="1400" dirty="0"/>
          </a:p>
          <a:p>
            <a:pPr indent="0" marL="0">
              <a:buNone/>
            </a:pPr>
            <a:r>
              <a:rPr lang="en-US" sz="1150" dirty="0">
                <a:solidFill>
                  <a:srgbClr val="111111"/>
                </a:solidFill>
              </a:rPr>
              <a:t>headlines per holding, read-only; the one labelled AI tone label</a:t>
            </a:r>
            <a:endParaRPr lang="en-US" sz="1400" dirty="0"/>
          </a:p>
        </p:txBody>
      </p:sp>
      <p:sp>
        <p:nvSpPr>
          <p:cNvPr id="17" name="slide6-box-r"/>
          <p:cNvSpPr/>
          <p:nvPr/>
        </p:nvSpPr>
        <p:spPr>
          <a:xfrm>
            <a:off x="4383938" y="4160520"/>
            <a:ext cx="3423818" cy="1188720"/>
          </a:xfrm>
          <a:prstGeom prst="rect">
            <a:avLst/>
          </a:prstGeom>
          <a:solidFill>
            <a:srgbClr val="111111"/>
          </a:solidFill>
          <a:ln w="12700">
            <a:solidFill>
              <a:srgbClr val="111111"/>
            </a:solidFill>
            <a:prstDash val="solid"/>
          </a:ln>
        </p:spPr>
      </p:sp>
      <p:sp>
        <p:nvSpPr>
          <p:cNvPr id="18" name="slide6-boxtext-r"/>
          <p:cNvSpPr txBox="1"/>
          <p:nvPr/>
        </p:nvSpPr>
        <p:spPr>
          <a:xfrm>
            <a:off x="4493666" y="4233672"/>
            <a:ext cx="3204362" cy="1042416"/>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Risk Engine · final word</a:t>
            </a:r>
            <a:endParaRPr lang="en-US" sz="1400" dirty="0"/>
          </a:p>
          <a:p>
            <a:pPr indent="0" marL="0">
              <a:buNone/>
            </a:pPr>
            <a:r>
              <a:rPr lang="en-US" sz="1150" dirty="0">
                <a:solidFill>
                  <a:srgbClr val="FFFFFF"/>
                </a:solidFill>
              </a:rPr>
              <a:t>re-computes every limit from the weights alone; unknown product = fail closed; only an approved portfolio is shown</a:t>
            </a:r>
            <a:endParaRPr lang="en-US" sz="1400" dirty="0"/>
          </a:p>
        </p:txBody>
      </p:sp>
      <p:sp>
        <p:nvSpPr>
          <p:cNvPr id="19" name="slide6-box-e"/>
          <p:cNvSpPr/>
          <p:nvPr/>
        </p:nvSpPr>
        <p:spPr>
          <a:xfrm>
            <a:off x="8173517" y="4160520"/>
            <a:ext cx="3423818" cy="1188720"/>
          </a:xfrm>
          <a:prstGeom prst="rect">
            <a:avLst/>
          </a:prstGeom>
          <a:solidFill>
            <a:srgbClr val="F1F1F1"/>
          </a:solidFill>
          <a:ln w="12700">
            <a:solidFill>
              <a:srgbClr val="F1F1F1"/>
            </a:solidFill>
            <a:prstDash val="solid"/>
          </a:ln>
        </p:spPr>
      </p:sp>
      <p:sp>
        <p:nvSpPr>
          <p:cNvPr id="20" name="slide6-boxtext-e"/>
          <p:cNvSpPr txBox="1"/>
          <p:nvPr/>
        </p:nvSpPr>
        <p:spPr>
          <a:xfrm>
            <a:off x="8283245" y="4233672"/>
            <a:ext cx="3204362" cy="1042416"/>
          </a:xfrm>
          <a:prstGeom prst="rect">
            <a:avLst/>
          </a:prstGeom>
          <a:noFill/>
          <a:ln/>
        </p:spPr>
        <p:txBody>
          <a:bodyPr wrap="square" lIns="0" tIns="0" rIns="0" bIns="0" rtlCol="0" anchor="t"/>
          <a:lstStyle/>
          <a:p>
            <a:pPr indent="0" marL="0">
              <a:buNone/>
            </a:pPr>
            <a:r>
              <a:rPr lang="en-US" sz="1400" b="1" dirty="0">
                <a:solidFill>
                  <a:srgbClr val="111111"/>
                </a:solidFill>
                <a:latin typeface="Cambria" pitchFamily="34" charset="0"/>
                <a:ea typeface="Cambria" pitchFamily="34" charset="-122"/>
                <a:cs typeface="Cambria" pitchFamily="34" charset="-120"/>
              </a:rPr>
              <a:t>Advisor (OpenAI)</a:t>
            </a:r>
            <a:endParaRPr lang="en-US" sz="1400" dirty="0"/>
          </a:p>
          <a:p>
            <a:pPr indent="0" marL="0">
              <a:buNone/>
            </a:pPr>
            <a:r>
              <a:rPr lang="en-US" sz="1150" dirty="0">
                <a:solidFill>
                  <a:srgbClr val="111111"/>
                </a:solidFill>
              </a:rPr>
              <a:t>explains sealed facts; tools: what-if, check one trade; number grounding, redaction, compliance guard</a:t>
            </a:r>
            <a:endParaRPr lang="en-US" sz="1400" dirty="0"/>
          </a:p>
        </p:txBody>
      </p:sp>
      <p:sp>
        <p:nvSpPr>
          <p:cNvPr id="21" name="slide6-stack"/>
          <p:cNvSpPr txBox="1"/>
          <p:nvPr/>
        </p:nvSpPr>
        <p:spPr>
          <a:xfrm>
            <a:off x="594360" y="5486400"/>
            <a:ext cx="11002975" cy="457200"/>
          </a:xfrm>
          <a:prstGeom prst="rect">
            <a:avLst/>
          </a:prstGeom>
          <a:noFill/>
          <a:ln/>
        </p:spPr>
        <p:txBody>
          <a:bodyPr wrap="square" lIns="0" tIns="0" rIns="0" bIns="0" rtlCol="0" anchor="t"/>
          <a:lstStyle/>
          <a:p>
            <a:pPr indent="0" marL="0">
              <a:buNone/>
            </a:pPr>
            <a:r>
              <a:rPr lang="en-US" sz="1100" dirty="0">
                <a:solidFill>
                  <a:srgbClr val="555555"/>
                </a:solidFill>
              </a:rPr>
              <a:t>Next.js on Vercel → FastAPI on Railway → Supabase (Auth + Postgres with Row-Level Security) · OpenAI (explanations only) · Sepolia test chain (fingerprints only)</a:t>
            </a:r>
            <a:endParaRPr lang="en-US" sz="1100" dirty="0"/>
          </a:p>
        </p:txBody>
      </p:sp>
      <p:sp>
        <p:nvSpPr>
          <p:cNvPr id="25" name="Slide Number Placeholder 0"/>
          <p:cNvSpPr>
            <a:spLocks noGrp="1"/>
          </p:cNvSpPr>
          <p:nvPr>
            <p:ph type="sldNum" sz="quarter" idx="4294967295"/>
          </p:nvPr>
        </p:nvSpPr>
        <p:spPr>
          <a:xfrm>
            <a:off x="11048695" y="6473952"/>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777777"/>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1002975" cy="822960"/>
          </a:xfrm>
          <a:prstGeom prst="rect">
            <a:avLst/>
          </a:prstGeom>
          <a:noFill/>
          <a:ln/>
        </p:spPr>
        <p:txBody>
          <a:bodyPr wrap="square" lIns="0" tIns="0" rIns="0" bIns="0" rtlCol="0" anchor="t"/>
          <a:lstStyle/>
          <a:p>
            <a:pPr indent="0" marL="0">
              <a:buNone/>
            </a:pPr>
            <a:r>
              <a:rPr lang="en-US" sz="3000" b="1" dirty="0">
                <a:solidFill>
                  <a:schemeClr val="tx1"/>
                </a:solidFill>
              </a:rPr>
              <a:t>Behaviour counts, and can only make it safer</a:t>
            </a:r>
            <a:endParaRPr lang="en-US" sz="3000" dirty="0"/>
          </a:p>
        </p:txBody>
      </p:sp>
      <p:sp>
        <p:nvSpPr>
          <p:cNvPr id="3" name="slide7-bullets"/>
          <p:cNvSpPr txBox="1"/>
          <p:nvPr/>
        </p:nvSpPr>
        <p:spPr>
          <a:xfrm>
            <a:off x="594360" y="1417320"/>
            <a:ext cx="6035040" cy="4846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The Risk Game gives every person a behavioural signal; it counts one third of the attitude to risk and never pushes past the capacity cap</a:t>
            </a:r>
            <a:endParaRPr lang="en-US" sz="1400" dirty="0"/>
          </a:p>
          <a:p>
            <a:pPr marL="342900" indent="-342900">
              <a:spcAft>
                <a:spcPts val="600"/>
              </a:spcAft>
              <a:buSzPct val="100000"/>
              <a:buChar char="•"/>
            </a:pPr>
            <a:r>
              <a:rPr lang="en-US" sz="1400" dirty="0">
                <a:solidFill>
                  <a:schemeClr val="tx1"/>
                </a:solidFill>
              </a:rPr>
              <a:t>A real Interactive Brokers history (read-only upload or one-off Flex token; nothing stored) is stronger evidence and tightens only</a:t>
            </a:r>
            <a:endParaRPr lang="en-US" sz="1400" dirty="0"/>
          </a:p>
          <a:p>
            <a:pPr marL="342900" indent="-342900">
              <a:spcAft>
                <a:spcPts val="600"/>
              </a:spcAft>
              <a:buSzPct val="100000"/>
              <a:buChar char="•"/>
            </a:pPr>
            <a:r>
              <a:rPr lang="en-US" sz="1400" dirty="0">
                <a:solidFill>
                  <a:schemeClr val="tx1"/>
                </a:solidFill>
              </a:rPr>
              <a:t>Demo: the balanced investor, category C3. Without a history: 23% stocks, 87 of 100 simulated futures reach the goal</a:t>
            </a:r>
            <a:endParaRPr lang="en-US" sz="1400" dirty="0"/>
          </a:p>
          <a:p>
            <a:pPr marL="342900" indent="-342900">
              <a:spcAft>
                <a:spcPts val="600"/>
              </a:spcAft>
              <a:buSzPct val="100000"/>
              <a:buChar char="•"/>
            </a:pPr>
            <a:r>
              <a:rPr lang="en-US" sz="1400" dirty="0">
                <a:solidFill>
                  <a:schemeClr val="tx1"/>
                </a:solidFill>
              </a:rPr>
              <a:t>With an invented history that sold half its stocks in two market falls: the loss limit moves from 20% to 8.8%, stocks from 23% to 8%, the goal chance to 86 of 100; the Limits tab shows the line and the report says why</a:t>
            </a:r>
            <a:endParaRPr lang="en-US" sz="1400" dirty="0"/>
          </a:p>
          <a:p>
            <a:pPr marL="342900" indent="-342900">
              <a:spcAft>
                <a:spcPts val="600"/>
              </a:spcAft>
              <a:buSzPct val="100000"/>
              <a:buChar char="•"/>
            </a:pPr>
            <a:r>
              <a:rPr lang="en-US" sz="1400" dirty="0">
                <a:solidFill>
                  <a:schemeClr val="tx1"/>
                </a:solidFill>
              </a:rPr>
              <a:t>The eager beginner: C5 by the questionnaire, C4 after a cautious game; crypto stays closed because the knowledge questions were not answered correctly</a:t>
            </a:r>
            <a:endParaRPr lang="en-US" sz="1400" dirty="0"/>
          </a:p>
        </p:txBody>
      </p:sp>
      <p:pic>
        <p:nvPicPr>
          <p:cNvPr id="4" name="slide7-image" descr="C:\Users\NYUAD\AppData\Local\Temp\claude\C--Users-NYUAD-Downloads-FinTechaton\ea8358ed-f283-4dea-9090-adc4a48a45d2\scratchpad\deck\11-limits-tab-desktop.png">    </p:cNvPr>
          <p:cNvPicPr>
            <a:picLocks noChangeAspect="1"/>
          </p:cNvPicPr>
          <p:nvPr/>
        </p:nvPicPr>
        <p:blipFill>
          <a:blip r:embed="rId1"/>
          <a:stretch>
            <a:fillRect/>
          </a:stretch>
        </p:blipFill>
        <p:spPr>
          <a:xfrm>
            <a:off x="6995160" y="1417320"/>
            <a:ext cx="4602175" cy="2876360"/>
          </a:xfrm>
          <a:prstGeom prst="rect">
            <a:avLst/>
          </a:prstGeom>
        </p:spPr>
      </p:pic>
      <p:sp>
        <p:nvSpPr>
          <p:cNvPr id="5" name="slide7-cap"/>
          <p:cNvSpPr txBox="1"/>
          <p:nvPr/>
        </p:nvSpPr>
        <p:spPr>
          <a:xfrm>
            <a:off x="6995160" y="4385119"/>
            <a:ext cx="4602175" cy="731520"/>
          </a:xfrm>
          <a:prstGeom prst="rect">
            <a:avLst/>
          </a:prstGeom>
          <a:noFill/>
          <a:ln/>
        </p:spPr>
        <p:txBody>
          <a:bodyPr wrap="square" lIns="0" tIns="0" rIns="0" bIns="0" rtlCol="0" anchor="t"/>
          <a:lstStyle/>
          <a:p>
            <a:pPr indent="0" marL="0">
              <a:buNone/>
            </a:pPr>
            <a:r>
              <a:rPr lang="en-US" sz="1050" dirty="0">
                <a:solidFill>
                  <a:srgbClr val="555555"/>
                </a:solidFill>
              </a:rPr>
              <a:t>The Limits tab (screenshot: a different example, category C4): every limit with its source, including the behavioural limit from the person's own trades</a:t>
            </a:r>
            <a:endParaRPr lang="en-US" sz="1050" dirty="0"/>
          </a:p>
        </p:txBody>
      </p:sp>
      <p:sp>
        <p:nvSpPr>
          <p:cNvPr id="25" name="Slide Number Placeholder 0"/>
          <p:cNvSpPr>
            <a:spLocks noGrp="1"/>
          </p:cNvSpPr>
          <p:nvPr>
            <p:ph type="sldNum" sz="quarter" idx="4294967295"/>
          </p:nvPr>
        </p:nvSpPr>
        <p:spPr>
          <a:xfrm>
            <a:off x="11048695" y="6473952"/>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777777"/>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1002975" cy="822960"/>
          </a:xfrm>
          <a:prstGeom prst="rect">
            <a:avLst/>
          </a:prstGeom>
          <a:noFill/>
          <a:ln/>
        </p:spPr>
        <p:txBody>
          <a:bodyPr wrap="square" lIns="0" tIns="0" rIns="0" bIns="0" rtlCol="0" anchor="t"/>
          <a:lstStyle/>
          <a:p>
            <a:pPr indent="0" marL="0">
              <a:buNone/>
            </a:pPr>
            <a:r>
              <a:rPr lang="en-US" sz="3000" b="1" dirty="0">
                <a:solidFill>
                  <a:schemeClr val="tx1"/>
                </a:solidFill>
              </a:rPr>
              <a:t>A goal simulation that is honest about history</a:t>
            </a:r>
            <a:endParaRPr lang="en-US" sz="3000" dirty="0"/>
          </a:p>
        </p:txBody>
      </p:sp>
      <p:sp>
        <p:nvSpPr>
          <p:cNvPr id="3" name="slide8-bullets"/>
          <p:cNvSpPr txBox="1"/>
          <p:nvPr/>
        </p:nvSpPr>
        <p:spPr>
          <a:xfrm>
            <a:off x="594360" y="1417320"/>
            <a:ext cx="6035040" cy="4846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The chance of reaching the goal is shown as "N in 100 simulated futures", never as a forecast</a:t>
            </a:r>
            <a:endParaRPr lang="en-US" sz="1400" dirty="0"/>
          </a:p>
          <a:p>
            <a:pPr marL="342900" indent="-342900">
              <a:spcAft>
                <a:spcPts val="600"/>
              </a:spcAft>
              <a:buSzPct val="100000"/>
              <a:buChar char="•"/>
            </a:pPr>
            <a:r>
              <a:rPr lang="en-US" sz="1400" dirty="0">
                <a:solidFill>
                  <a:schemeClr val="tx1"/>
                </a:solidFill>
              </a:rPr>
              <a:t>10,000 futures, the same for every candidate; month-long blocks of real daily returns, so crashes and rebounds stay clustered</a:t>
            </a:r>
            <a:endParaRPr lang="en-US" sz="1400" dirty="0"/>
          </a:p>
          <a:p>
            <a:pPr marL="342900" indent="-342900">
              <a:spcAft>
                <a:spcPts val="600"/>
              </a:spcAft>
              <a:buSzPct val="100000"/>
              <a:buChar char="•"/>
            </a:pPr>
            <a:r>
              <a:rPr lang="en-US" sz="1400" dirty="0">
                <a:solidFill>
                  <a:schemeClr val="tx1"/>
                </a:solidFill>
              </a:rPr>
              <a:t>Regime-aware sampler: a four-state Hidden Markov model fitted offline, loaded as a hash-checked file, with a fall-back and a kill switch</a:t>
            </a:r>
            <a:endParaRPr lang="en-US" sz="1400" dirty="0"/>
          </a:p>
          <a:p>
            <a:pPr marL="342900" indent="-342900">
              <a:spcAft>
                <a:spcPts val="600"/>
              </a:spcAft>
              <a:buSzPct val="100000"/>
              <a:buChar char="•"/>
            </a:pPr>
            <a:r>
              <a:rPr lang="en-US" sz="1400" dirty="0">
                <a:solidFill>
                  <a:schemeClr val="tx1"/>
                </a:solidFill>
              </a:rPr>
              <a:t>Two bias corrections: bonds and cash get today's rate, not their past average; stocks keep every real move but get the average their market sensitivity earned</a:t>
            </a:r>
            <a:endParaRPr lang="en-US" sz="1400" dirty="0"/>
          </a:p>
          <a:p>
            <a:pPr marL="342900" indent="-342900">
              <a:spcAft>
                <a:spcPts val="600"/>
              </a:spcAft>
              <a:buSzPct val="100000"/>
              <a:buChar char="•"/>
            </a:pPr>
            <a:r>
              <a:rPr lang="en-US" sz="1400" dirty="0">
                <a:solidFill>
                  <a:schemeClr val="tx1"/>
                </a:solidFill>
              </a:rPr>
              <a:t>Our own calibration backtest (rolling start dates, refitted on earlier data only): Brier score better than the plain bootstrap by 0.007 at five years and 0.011 at ten; on the later dates the gain is within the noise, and realised outcomes can differ from the simulated chance by tens of points. Hence "simulated", never "probable"</a:t>
            </a:r>
            <a:endParaRPr lang="en-US" sz="1400" dirty="0"/>
          </a:p>
        </p:txBody>
      </p:sp>
      <p:pic>
        <p:nvPicPr>
          <p:cNvPr id="4" name="slide8-image" descr="C:\Users\NYUAD\AppData\Local\Temp\claude\C--Users-NYUAD-Downloads-FinTechaton\ea8358ed-f283-4dea-9090-adc4a48a45d2\scratchpad\deck\06-goal-tab-desktop.png">    </p:cNvPr>
          <p:cNvPicPr>
            <a:picLocks noChangeAspect="1"/>
          </p:cNvPicPr>
          <p:nvPr/>
        </p:nvPicPr>
        <p:blipFill>
          <a:blip r:embed="rId1"/>
          <a:stretch>
            <a:fillRect/>
          </a:stretch>
        </p:blipFill>
        <p:spPr>
          <a:xfrm>
            <a:off x="6995160" y="1417320"/>
            <a:ext cx="4602175" cy="2876360"/>
          </a:xfrm>
          <a:prstGeom prst="rect">
            <a:avLst/>
          </a:prstGeom>
        </p:spPr>
      </p:pic>
      <p:sp>
        <p:nvSpPr>
          <p:cNvPr id="5" name="slide8-cap"/>
          <p:cNvSpPr txBox="1"/>
          <p:nvPr/>
        </p:nvSpPr>
        <p:spPr>
          <a:xfrm>
            <a:off x="6995160" y="4385119"/>
            <a:ext cx="4602175" cy="731520"/>
          </a:xfrm>
          <a:prstGeom prst="rect">
            <a:avLst/>
          </a:prstGeom>
          <a:noFill/>
          <a:ln/>
        </p:spPr>
        <p:txBody>
          <a:bodyPr wrap="square" lIns="0" tIns="0" rIns="0" bIns="0" rtlCol="0" anchor="t"/>
          <a:lstStyle/>
          <a:p>
            <a:pPr indent="0" marL="0">
              <a:buNone/>
            </a:pPr>
            <a:r>
              <a:rPr lang="en-US" sz="1050" dirty="0">
                <a:solidFill>
                  <a:srgbClr val="555555"/>
                </a:solidFill>
              </a:rPr>
              <a:t>The Goal tab: the chance as 100 boxes, where the portfolio could end up, how bad a miss could be</a:t>
            </a:r>
            <a:endParaRPr lang="en-US" sz="1050" dirty="0"/>
          </a:p>
        </p:txBody>
      </p:sp>
      <p:sp>
        <p:nvSpPr>
          <p:cNvPr id="25" name="Slide Number Placeholder 0"/>
          <p:cNvSpPr>
            <a:spLocks noGrp="1"/>
          </p:cNvSpPr>
          <p:nvPr>
            <p:ph type="sldNum" sz="quarter" idx="4294967295"/>
          </p:nvPr>
        </p:nvSpPr>
        <p:spPr>
          <a:xfrm>
            <a:off x="11048695" y="6473952"/>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777777"/>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1002975" cy="822960"/>
          </a:xfrm>
          <a:prstGeom prst="rect">
            <a:avLst/>
          </a:prstGeom>
          <a:noFill/>
          <a:ln/>
        </p:spPr>
        <p:txBody>
          <a:bodyPr wrap="square" lIns="0" tIns="0" rIns="0" bIns="0" rtlCol="0" anchor="t"/>
          <a:lstStyle/>
          <a:p>
            <a:pPr indent="0" marL="0">
              <a:buNone/>
            </a:pPr>
            <a:r>
              <a:rPr lang="en-US" sz="3000" b="1" dirty="0">
                <a:solidFill>
                  <a:schemeClr val="tx1"/>
                </a:solidFill>
              </a:rPr>
              <a:t>The advisor can run the engine but cannot decide</a:t>
            </a:r>
            <a:endParaRPr lang="en-US" sz="3000" dirty="0"/>
          </a:p>
        </p:txBody>
      </p:sp>
      <p:sp>
        <p:nvSpPr>
          <p:cNvPr id="3" name="slide9-bullets"/>
          <p:cNvSpPr txBox="1"/>
          <p:nvPr/>
        </p:nvSpPr>
        <p:spPr>
          <a:xfrm>
            <a:off x="594360" y="1417320"/>
            <a:ext cx="6035040" cy="4846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Two whitelisted tools: run a what-if (the real engine on a validated scenario) and check one trade (the deterministic trade check on the saved history); no field for a limit, a category or an identity; at most two calls per message</a:t>
            </a:r>
            <a:endParaRPr lang="en-US" sz="1400" dirty="0"/>
          </a:p>
          <a:p>
            <a:pPr marL="342900" indent="-342900">
              <a:spcAft>
                <a:spcPts val="600"/>
              </a:spcAft>
              <a:buSzPct val="100000"/>
              <a:buChar char="•"/>
            </a:pPr>
            <a:r>
              <a:rPr lang="en-US" sz="1400" dirty="0">
                <a:solidFill>
                  <a:schemeClr val="tx1"/>
                </a:solidFill>
              </a:rPr>
              <a:t>Number grounding: every percentage, "N in 100", amount and multiplier must come from the engine's facts or the user's own words, otherwise the reply is regenerated once, then replaced by a safe fallback</a:t>
            </a:r>
            <a:endParaRPr lang="en-US" sz="1400" dirty="0"/>
          </a:p>
          <a:p>
            <a:pPr marL="342900" indent="-342900">
              <a:spcAft>
                <a:spcPts val="600"/>
              </a:spcAft>
              <a:buSzPct val="100000"/>
              <a:buChar char="•"/>
            </a:pPr>
            <a:r>
              <a:rPr lang="en-US" sz="1400" dirty="0">
                <a:solidFill>
                  <a:schemeClr val="tx1"/>
                </a:solidFill>
              </a:rPr>
              <a:t>Redaction gateway: names, e-mails, phone numbers and account ids become placeholders before any model call; requests use store=false</a:t>
            </a:r>
            <a:endParaRPr lang="en-US" sz="1400" dirty="0"/>
          </a:p>
          <a:p>
            <a:pPr marL="342900" indent="-342900">
              <a:spcAft>
                <a:spcPts val="600"/>
              </a:spcAft>
              <a:buSzPct val="100000"/>
              <a:buChar char="•"/>
            </a:pPr>
            <a:r>
              <a:rPr lang="en-US" sz="1400" dirty="0">
                <a:solidFill>
                  <a:schemeClr val="tx1"/>
                </a:solidFill>
              </a:rPr>
              <a:t>Compliance guard: 36 patterns (English and Chinese) withhold anything that reads like a trade instruction, a price target, a guarantee or a forecast</a:t>
            </a:r>
            <a:endParaRPr lang="en-US" sz="1400" dirty="0"/>
          </a:p>
          <a:p>
            <a:pPr marL="342900" indent="-342900">
              <a:spcAft>
                <a:spcPts val="600"/>
              </a:spcAft>
              <a:buSzPct val="100000"/>
              <a:buChar char="•"/>
            </a:pPr>
            <a:r>
              <a:rPr lang="en-US" sz="1400" dirty="0">
                <a:solidFill>
                  <a:schemeClr val="tx1"/>
                </a:solidFill>
              </a:rPr>
              <a:t>Live red-teams against the real model (raw results in eval/results): earlier prompts 19/19, 19/19, 21/21, 24/24. On 20 Oct the red-team of the final advisor found a real defect in the trade tool (the model filled two size fields, so no trade check completed: a safe failure), fixed within the hour as advisor-v11; the re-run passed 41 of 42 cases (the one flag is a false alarm of our own check) and the trade explanation 51 of 51</a:t>
            </a:r>
            <a:endParaRPr lang="en-US" sz="1400" dirty="0"/>
          </a:p>
        </p:txBody>
      </p:sp>
      <p:pic>
        <p:nvPicPr>
          <p:cNvPr id="4" name="slide9-image" descr="C:\Users\NYUAD\AppData\Local\Temp\claude\C--Users-NYUAD-Downloads-FinTechaton\ea8358ed-f283-4dea-9090-adc4a48a45d2\scratchpad\deck\09-advisor-trade-card-desktop.png">    </p:cNvPr>
          <p:cNvPicPr>
            <a:picLocks noChangeAspect="1"/>
          </p:cNvPicPr>
          <p:nvPr/>
        </p:nvPicPr>
        <p:blipFill>
          <a:blip r:embed="rId1"/>
          <a:stretch>
            <a:fillRect/>
          </a:stretch>
        </p:blipFill>
        <p:spPr>
          <a:xfrm>
            <a:off x="6995160" y="1417320"/>
            <a:ext cx="4602175" cy="2876360"/>
          </a:xfrm>
          <a:prstGeom prst="rect">
            <a:avLst/>
          </a:prstGeom>
        </p:spPr>
      </p:pic>
      <p:sp>
        <p:nvSpPr>
          <p:cNvPr id="5" name="slide9-cap"/>
          <p:cNvSpPr txBox="1"/>
          <p:nvPr/>
        </p:nvSpPr>
        <p:spPr>
          <a:xfrm>
            <a:off x="6995160" y="4385119"/>
            <a:ext cx="4602175" cy="731520"/>
          </a:xfrm>
          <a:prstGeom prst="rect">
            <a:avLst/>
          </a:prstGeom>
          <a:noFill/>
          <a:ln/>
        </p:spPr>
        <p:txBody>
          <a:bodyPr wrap="square" lIns="0" tIns="0" rIns="0" bIns="0" rtlCol="0" anchor="t"/>
          <a:lstStyle/>
          <a:p>
            <a:pPr indent="0" marL="0">
              <a:buNone/>
            </a:pPr>
            <a:r>
              <a:rPr lang="en-US" sz="1050" dirty="0">
                <a:solidFill>
                  <a:srgbClr val="555555"/>
                </a:solidFill>
              </a:rPr>
              <a:t>A trade question in the chat: the verdict card under the reply is the real engine's check</a:t>
            </a:r>
            <a:endParaRPr lang="en-US" sz="1050" dirty="0"/>
          </a:p>
        </p:txBody>
      </p:sp>
      <p:sp>
        <p:nvSpPr>
          <p:cNvPr id="25" name="Slide Number Placeholder 0"/>
          <p:cNvSpPr>
            <a:spLocks noGrp="1"/>
          </p:cNvSpPr>
          <p:nvPr>
            <p:ph type="sldNum" sz="quarter" idx="4294967295"/>
          </p:nvPr>
        </p:nvSpPr>
        <p:spPr>
          <a:xfrm>
            <a:off x="11048695" y="6473952"/>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777777"/>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1002975" cy="822960"/>
          </a:xfrm>
          <a:prstGeom prst="rect">
            <a:avLst/>
          </a:prstGeom>
          <a:noFill/>
          <a:ln/>
        </p:spPr>
        <p:txBody>
          <a:bodyPr wrap="square" lIns="0" tIns="0" rIns="0" bIns="0" rtlCol="0" anchor="t"/>
          <a:lstStyle/>
          <a:p>
            <a:pPr indent="0" marL="0">
              <a:buNone/>
            </a:pPr>
            <a:r>
              <a:rPr lang="en-US" sz="3000" b="1" dirty="0">
                <a:solidFill>
                  <a:schemeClr val="tx1"/>
                </a:solidFill>
              </a:rPr>
              <a:t>Security and compliance: what we built and what we measured</a:t>
            </a:r>
            <a:endParaRPr lang="en-US" sz="3000" dirty="0"/>
          </a:p>
        </p:txBody>
      </p:sp>
      <p:sp>
        <p:nvSpPr>
          <p:cNvPr id="3" name="slide10-stat0"/>
          <p:cNvSpPr/>
          <p:nvPr/>
        </p:nvSpPr>
        <p:spPr>
          <a:xfrm>
            <a:off x="594360" y="1417320"/>
            <a:ext cx="2545004" cy="1417320"/>
          </a:xfrm>
          <a:prstGeom prst="rect">
            <a:avLst/>
          </a:prstGeom>
          <a:solidFill>
            <a:srgbClr val="F1F1F1"/>
          </a:solidFill>
          <a:ln w="12700">
            <a:solidFill>
              <a:srgbClr val="F1F1F1"/>
            </a:solidFill>
            <a:prstDash val="solid"/>
          </a:ln>
        </p:spPr>
      </p:sp>
      <p:sp>
        <p:nvSpPr>
          <p:cNvPr id="4" name="slide10-big0"/>
          <p:cNvSpPr txBox="1"/>
          <p:nvPr/>
        </p:nvSpPr>
        <p:spPr>
          <a:xfrm>
            <a:off x="777240" y="1508760"/>
            <a:ext cx="2179244" cy="68580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3,554</a:t>
            </a:r>
            <a:endParaRPr lang="en-US" sz="3600" dirty="0"/>
          </a:p>
        </p:txBody>
      </p:sp>
      <p:sp>
        <p:nvSpPr>
          <p:cNvPr id="5" name="slide10-small0"/>
          <p:cNvSpPr txBox="1"/>
          <p:nvPr/>
        </p:nvSpPr>
        <p:spPr>
          <a:xfrm>
            <a:off x="777240" y="2194560"/>
            <a:ext cx="2179244" cy="594360"/>
          </a:xfrm>
          <a:prstGeom prst="rect">
            <a:avLst/>
          </a:prstGeom>
          <a:noFill/>
          <a:ln/>
        </p:spPr>
        <p:txBody>
          <a:bodyPr wrap="square" lIns="0" tIns="0" rIns="0" bIns="0" rtlCol="0" anchor="t"/>
          <a:lstStyle/>
          <a:p>
            <a:pPr indent="0" marL="0">
              <a:buNone/>
            </a:pPr>
            <a:r>
              <a:rPr lang="en-US" sz="1100" dirty="0">
                <a:solidFill>
                  <a:srgbClr val="333333"/>
                </a:solidFill>
              </a:rPr>
              <a:t>automatic tests, offline; last complete run 3,538 of 3,540 passed, 1 failed (a timing test of the news page), 1 skipped; 14 added since ran green</a:t>
            </a:r>
            <a:endParaRPr lang="en-US" sz="1100" dirty="0"/>
          </a:p>
        </p:txBody>
      </p:sp>
      <p:sp>
        <p:nvSpPr>
          <p:cNvPr id="6" name="slide10-stat1"/>
          <p:cNvSpPr/>
          <p:nvPr/>
        </p:nvSpPr>
        <p:spPr>
          <a:xfrm>
            <a:off x="3413684" y="1417320"/>
            <a:ext cx="2545004" cy="1417320"/>
          </a:xfrm>
          <a:prstGeom prst="rect">
            <a:avLst/>
          </a:prstGeom>
          <a:solidFill>
            <a:srgbClr val="F1F1F1"/>
          </a:solidFill>
          <a:ln w="12700">
            <a:solidFill>
              <a:srgbClr val="F1F1F1"/>
            </a:solidFill>
            <a:prstDash val="solid"/>
          </a:ln>
        </p:spPr>
      </p:sp>
      <p:sp>
        <p:nvSpPr>
          <p:cNvPr id="7" name="slide10-big1"/>
          <p:cNvSpPr txBox="1"/>
          <p:nvPr/>
        </p:nvSpPr>
        <p:spPr>
          <a:xfrm>
            <a:off x="3596564" y="1508760"/>
            <a:ext cx="2179244" cy="68580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71 of 71</a:t>
            </a:r>
            <a:endParaRPr lang="en-US" sz="3600" dirty="0"/>
          </a:p>
        </p:txBody>
      </p:sp>
      <p:sp>
        <p:nvSpPr>
          <p:cNvPr id="8" name="slide10-small1"/>
          <p:cNvSpPr txBox="1"/>
          <p:nvPr/>
        </p:nvSpPr>
        <p:spPr>
          <a:xfrm>
            <a:off x="3596564" y="2194560"/>
            <a:ext cx="2179244" cy="594360"/>
          </a:xfrm>
          <a:prstGeom prst="rect">
            <a:avLst/>
          </a:prstGeom>
          <a:noFill/>
          <a:ln/>
        </p:spPr>
        <p:txBody>
          <a:bodyPr wrap="square" lIns="0" tIns="0" rIns="0" bIns="0" rtlCol="0" anchor="t"/>
          <a:lstStyle/>
          <a:p>
            <a:pPr indent="0" marL="0">
              <a:buNone/>
            </a:pPr>
            <a:r>
              <a:rPr lang="en-US" sz="1100" dirty="0">
                <a:solidFill>
                  <a:srgbClr val="333333"/>
                </a:solidFill>
              </a:rPr>
              <a:t>read-only deploy checks passed on the live service (20 Oct)</a:t>
            </a:r>
            <a:endParaRPr lang="en-US" sz="1100" dirty="0"/>
          </a:p>
        </p:txBody>
      </p:sp>
      <p:sp>
        <p:nvSpPr>
          <p:cNvPr id="9" name="slide10-stat2"/>
          <p:cNvSpPr/>
          <p:nvPr/>
        </p:nvSpPr>
        <p:spPr>
          <a:xfrm>
            <a:off x="6233008" y="1417320"/>
            <a:ext cx="2545004" cy="1417320"/>
          </a:xfrm>
          <a:prstGeom prst="rect">
            <a:avLst/>
          </a:prstGeom>
          <a:solidFill>
            <a:srgbClr val="F1F1F1"/>
          </a:solidFill>
          <a:ln w="12700">
            <a:solidFill>
              <a:srgbClr val="F1F1F1"/>
            </a:solidFill>
            <a:prstDash val="solid"/>
          </a:ln>
        </p:spPr>
      </p:sp>
      <p:sp>
        <p:nvSpPr>
          <p:cNvPr id="10" name="slide10-big2"/>
          <p:cNvSpPr txBox="1"/>
          <p:nvPr/>
        </p:nvSpPr>
        <p:spPr>
          <a:xfrm>
            <a:off x="6415888" y="1508760"/>
            <a:ext cx="2179244" cy="68580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0</a:t>
            </a:r>
            <a:endParaRPr lang="en-US" sz="3600" dirty="0"/>
          </a:p>
        </p:txBody>
      </p:sp>
      <p:sp>
        <p:nvSpPr>
          <p:cNvPr id="11" name="slide10-small2"/>
          <p:cNvSpPr txBox="1"/>
          <p:nvPr/>
        </p:nvSpPr>
        <p:spPr>
          <a:xfrm>
            <a:off x="6415888" y="2194560"/>
            <a:ext cx="2179244" cy="594360"/>
          </a:xfrm>
          <a:prstGeom prst="rect">
            <a:avLst/>
          </a:prstGeom>
          <a:noFill/>
          <a:ln/>
        </p:spPr>
        <p:txBody>
          <a:bodyPr wrap="square" lIns="0" tIns="0" rIns="0" bIns="0" rtlCol="0" anchor="t"/>
          <a:lstStyle/>
          <a:p>
            <a:pPr indent="0" marL="0">
              <a:buNone/>
            </a:pPr>
            <a:r>
              <a:rPr lang="en-US" sz="1100" dirty="0">
                <a:solidFill>
                  <a:srgbClr val="333333"/>
                </a:solidFill>
              </a:rPr>
              <a:t>known vulnerabilities in the 56 pinned packages (pip-audit, 20 Oct)</a:t>
            </a:r>
            <a:endParaRPr lang="en-US" sz="1100" dirty="0"/>
          </a:p>
        </p:txBody>
      </p:sp>
      <p:sp>
        <p:nvSpPr>
          <p:cNvPr id="12" name="slide10-stat3"/>
          <p:cNvSpPr/>
          <p:nvPr/>
        </p:nvSpPr>
        <p:spPr>
          <a:xfrm>
            <a:off x="9052331" y="1417320"/>
            <a:ext cx="2545004" cy="1417320"/>
          </a:xfrm>
          <a:prstGeom prst="rect">
            <a:avLst/>
          </a:prstGeom>
          <a:solidFill>
            <a:srgbClr val="F1F1F1"/>
          </a:solidFill>
          <a:ln w="12700">
            <a:solidFill>
              <a:srgbClr val="F1F1F1"/>
            </a:solidFill>
            <a:prstDash val="solid"/>
          </a:ln>
        </p:spPr>
      </p:sp>
      <p:sp>
        <p:nvSpPr>
          <p:cNvPr id="13" name="slide10-big3"/>
          <p:cNvSpPr txBox="1"/>
          <p:nvPr/>
        </p:nvSpPr>
        <p:spPr>
          <a:xfrm>
            <a:off x="9235211" y="1508760"/>
            <a:ext cx="2179244" cy="68580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28</a:t>
            </a:r>
            <a:endParaRPr lang="en-US" sz="3600" dirty="0"/>
          </a:p>
        </p:txBody>
      </p:sp>
      <p:sp>
        <p:nvSpPr>
          <p:cNvPr id="14" name="slide10-small3"/>
          <p:cNvSpPr txBox="1"/>
          <p:nvPr/>
        </p:nvSpPr>
        <p:spPr>
          <a:xfrm>
            <a:off x="9235211" y="2194560"/>
            <a:ext cx="2179244" cy="594360"/>
          </a:xfrm>
          <a:prstGeom prst="rect">
            <a:avLst/>
          </a:prstGeom>
          <a:noFill/>
          <a:ln/>
        </p:spPr>
        <p:txBody>
          <a:bodyPr wrap="square" lIns="0" tIns="0" rIns="0" bIns="0" rtlCol="0" anchor="t"/>
          <a:lstStyle/>
          <a:p>
            <a:pPr indent="0" marL="0">
              <a:buNone/>
            </a:pPr>
            <a:r>
              <a:rPr lang="en-US" sz="1100" dirty="0">
                <a:solidFill>
                  <a:srgbClr val="333333"/>
                </a:solidFill>
              </a:rPr>
              <a:t>known gaps listed openly with owners, next to a threat table T1 to T19</a:t>
            </a:r>
            <a:endParaRPr lang="en-US" sz="1100" dirty="0"/>
          </a:p>
        </p:txBody>
      </p:sp>
      <p:sp>
        <p:nvSpPr>
          <p:cNvPr id="15" name="slide10-b1"/>
          <p:cNvSpPr txBox="1"/>
          <p:nvPr/>
        </p:nvSpPr>
        <p:spPr>
          <a:xfrm>
            <a:off x="594360" y="3108960"/>
            <a:ext cx="5272888" cy="31089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One person can never read another's data: every database call runs as the signed-in user under Row-Level Security on all 12 tables, the backend filters again, and there is no all-powerful key (the account store refuses to start with one); the RLS proof passed on the real project</a:t>
            </a:r>
            <a:endParaRPr lang="en-US" sz="1300" dirty="0"/>
          </a:p>
          <a:p>
            <a:pPr marL="342900" indent="-342900">
              <a:spcAft>
                <a:spcPts val="600"/>
              </a:spcAft>
              <a:buSzPct val="100000"/>
              <a:buChar char="•"/>
            </a:pPr>
            <a:r>
              <a:rPr lang="en-US" sz="1300" dirty="0">
                <a:solidFill>
                  <a:schemeClr val="tx1"/>
                </a:solidFill>
              </a:rPr>
              <a:t>Less data, kept shorter: broker credentials never asked for, tokens used once, uploaded files parsed in memory, every row expires after 180 days, "delete my data" erases every table (a test fails if one is forgotten)</a:t>
            </a:r>
            <a:endParaRPr lang="en-US" sz="1300" dirty="0"/>
          </a:p>
        </p:txBody>
      </p:sp>
      <p:sp>
        <p:nvSpPr>
          <p:cNvPr id="16" name="slide10-b2"/>
          <p:cNvSpPr txBox="1"/>
          <p:nvPr/>
        </p:nvSpPr>
        <p:spPr>
          <a:xfrm>
            <a:off x="6324448" y="3108960"/>
            <a:ext cx="5272888" cy="31089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Hostile input: strict schemas, no echo of what was sent, 80 + 33 + 129 hostile and extreme cases with no server error; size and rate limits; security headers and a content-security policy; secrets scanned on every push</a:t>
            </a:r>
            <a:endParaRPr lang="en-US" sz="1300" dirty="0"/>
          </a:p>
          <a:p>
            <a:pPr marL="342900" indent="-342900">
              <a:spcAft>
                <a:spcPts val="600"/>
              </a:spcAft>
              <a:buSzPct val="100000"/>
              <a:buChar char="•"/>
            </a:pPr>
            <a:r>
              <a:rPr lang="en-US" sz="1300" dirty="0">
                <a:solidFill>
                  <a:schemeClr val="tx1"/>
                </a:solidFill>
              </a:rPr>
              <a:t>Fails safely: a slow price feed switches the whole build to a labelled snapshot; the engine works without the AI; kill switches for every optional part</a:t>
            </a:r>
            <a:endParaRPr lang="en-US" sz="1300" dirty="0"/>
          </a:p>
        </p:txBody>
      </p:sp>
      <p:sp>
        <p:nvSpPr>
          <p:cNvPr id="25" name="Slide Number Placeholder 0"/>
          <p:cNvSpPr>
            <a:spLocks noGrp="1"/>
          </p:cNvSpPr>
          <p:nvPr>
            <p:ph type="sldNum" sz="quarter" idx="4294967295"/>
          </p:nvPr>
        </p:nvSpPr>
        <p:spPr>
          <a:xfrm>
            <a:off x="11048695" y="6473952"/>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777777"/>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1002975" cy="822960"/>
          </a:xfrm>
          <a:prstGeom prst="rect">
            <a:avLst/>
          </a:prstGeom>
          <a:noFill/>
          <a:ln/>
        </p:spPr>
        <p:txBody>
          <a:bodyPr wrap="square" lIns="0" tIns="0" rIns="0" bIns="0" rtlCol="0" anchor="t"/>
          <a:lstStyle/>
          <a:p>
            <a:pPr indent="0" marL="0">
              <a:buNone/>
            </a:pPr>
            <a:r>
              <a:rPr lang="en-US" sz="3000" b="1" dirty="0">
                <a:solidFill>
                  <a:schemeClr val="tx1"/>
                </a:solidFill>
              </a:rPr>
              <a:t>Tamper-evident advice: the on-chain seal</a:t>
            </a:r>
            <a:endParaRPr lang="en-US" sz="3000" dirty="0"/>
          </a:p>
        </p:txBody>
      </p:sp>
      <p:sp>
        <p:nvSpPr>
          <p:cNvPr id="3" name="slide11-bullets"/>
          <p:cNvSpPr txBox="1"/>
          <p:nvPr/>
        </p:nvSpPr>
        <p:spPr>
          <a:xfrm>
            <a:off x="594360" y="1417320"/>
            <a:ext cx="6035040" cy="4846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When a signed-in investor confirms an approved plan, the exact report is rendered once, marked "Sealed for: &lt;username&gt;", and a record of the advice is built</a:t>
            </a:r>
            <a:endParaRPr lang="en-US" sz="1400" dirty="0"/>
          </a:p>
          <a:p>
            <a:pPr marL="342900" indent="-342900">
              <a:spcAft>
                <a:spcPts val="600"/>
              </a:spcAft>
              <a:buSzPct val="100000"/>
              <a:buChar char="•"/>
            </a:pPr>
            <a:r>
              <a:rPr lang="en-US" sz="1400" dirty="0">
                <a:solidFill>
                  <a:schemeClr val="tx1"/>
                </a:solidFill>
              </a:rPr>
              <a:t>Only a fingerprint goes on chain: EGOQ1 + SHA-256(salt ‖ record), 37 bytes in a 0-ETH transaction on Ethereum Sepolia (test network); nothing personal leaves the database</a:t>
            </a:r>
            <a:endParaRPr lang="en-US" sz="1400" dirty="0"/>
          </a:p>
          <a:p>
            <a:pPr marL="342900" indent="-342900">
              <a:spcAft>
                <a:spcPts val="600"/>
              </a:spcAft>
              <a:buSzPct val="100000"/>
              <a:buChar char="•"/>
            </a:pPr>
            <a:r>
              <a:rPr lang="en-US" sz="1400" dirty="0">
                <a:solidFill>
                  <a:schemeClr val="tx1"/>
                </a:solidFill>
              </a:rPr>
              <a:t>Verify a report (no account needed) recomputes the fingerprint in the browser and reads the chain: "Unchanged ✓" or "Does not match ✗"; one changed character fails</a:t>
            </a:r>
            <a:endParaRPr lang="en-US" sz="1400" dirty="0"/>
          </a:p>
          <a:p>
            <a:pPr marL="342900" indent="-342900">
              <a:spcAft>
                <a:spcPts val="600"/>
              </a:spcAft>
              <a:buSzPct val="100000"/>
              <a:buChar char="•"/>
            </a:pPr>
            <a:r>
              <a:rPr lang="en-US" sz="1400" dirty="0">
                <a:solidFill>
                  <a:schemeClr val="tx1"/>
                </a:solidFill>
              </a:rPr>
              <a:t>Real transactions: the Verify page's demo report (block 11,951,549); a live signed-in seal on 20 Oct (block 11,954,258); sealing address 0x3c9E…9ddC; the evidence list names every seal with its Etherscan link</a:t>
            </a:r>
            <a:endParaRPr lang="en-US" sz="1400" dirty="0"/>
          </a:p>
          <a:p>
            <a:pPr marL="342900" indent="-342900">
              <a:spcAft>
                <a:spcPts val="600"/>
              </a:spcAft>
              <a:buSzPct val="100000"/>
              <a:buChar char="•"/>
            </a:pPr>
            <a:r>
              <a:rPr lang="en-US" sz="1400" dirty="0">
                <a:solidFill>
                  <a:schemeClr val="tx1"/>
                </a:solidFill>
              </a:rPr>
              <a:t>What it proves: this exact report existed, unchanged, no later than that block, for that username. What it does not: that the advice was right. Older seals still verify; "delete my data" removes the record and its salt. Roadmap: the same format on FISCO BCOS</a:t>
            </a:r>
            <a:endParaRPr lang="en-US" sz="1400" dirty="0"/>
          </a:p>
        </p:txBody>
      </p:sp>
      <p:pic>
        <p:nvPicPr>
          <p:cNvPr id="4" name="slide11-image" descr="C:\Users\NYUAD\AppData\Local\Temp\claude\C--Users-NYUAD-Downloads-FinTechaton\ea8358ed-f283-4dea-9090-adc4a48a45d2\scratchpad\deck\10-verify-proof-desktop.png">    </p:cNvPr>
          <p:cNvPicPr>
            <a:picLocks noChangeAspect="1"/>
          </p:cNvPicPr>
          <p:nvPr/>
        </p:nvPicPr>
        <p:blipFill>
          <a:blip r:embed="rId1"/>
          <a:stretch>
            <a:fillRect/>
          </a:stretch>
        </p:blipFill>
        <p:spPr>
          <a:xfrm>
            <a:off x="6995160" y="1417320"/>
            <a:ext cx="4602175" cy="2876360"/>
          </a:xfrm>
          <a:prstGeom prst="rect">
            <a:avLst/>
          </a:prstGeom>
        </p:spPr>
      </p:pic>
      <p:sp>
        <p:nvSpPr>
          <p:cNvPr id="5" name="slide11-cap"/>
          <p:cNvSpPr txBox="1"/>
          <p:nvPr/>
        </p:nvSpPr>
        <p:spPr>
          <a:xfrm>
            <a:off x="6995160" y="4385119"/>
            <a:ext cx="4602175" cy="731520"/>
          </a:xfrm>
          <a:prstGeom prst="rect">
            <a:avLst/>
          </a:prstGeom>
          <a:noFill/>
          <a:ln/>
        </p:spPr>
        <p:txBody>
          <a:bodyPr wrap="square" lIns="0" tIns="0" rIns="0" bIns="0" rtlCol="0" anchor="t"/>
          <a:lstStyle/>
          <a:p>
            <a:pPr indent="0" marL="0">
              <a:buNone/>
            </a:pPr>
            <a:r>
              <a:rPr lang="en-US" sz="1050" dirty="0">
                <a:solidFill>
                  <a:srgbClr val="555555"/>
                </a:solidFill>
              </a:rPr>
              <a:t>Verify a report: a real sealed report checked against the live chain, every check passed</a:t>
            </a:r>
            <a:endParaRPr lang="en-US" sz="1050" dirty="0"/>
          </a:p>
        </p:txBody>
      </p:sp>
      <p:sp>
        <p:nvSpPr>
          <p:cNvPr id="25" name="Slide Number Placeholder 0"/>
          <p:cNvSpPr>
            <a:spLocks noGrp="1"/>
          </p:cNvSpPr>
          <p:nvPr>
            <p:ph type="sldNum" sz="quarter" idx="4294967295"/>
          </p:nvPr>
        </p:nvSpPr>
        <p:spPr>
          <a:xfrm>
            <a:off x="11048695" y="6473952"/>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777777"/>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94360" y="457200"/>
            <a:ext cx="11002975" cy="822960"/>
          </a:xfrm>
          <a:prstGeom prst="rect">
            <a:avLst/>
          </a:prstGeom>
          <a:noFill/>
          <a:ln/>
        </p:spPr>
        <p:txBody>
          <a:bodyPr wrap="square" lIns="0" tIns="0" rIns="0" bIns="0" rtlCol="0" anchor="t"/>
          <a:lstStyle/>
          <a:p>
            <a:pPr indent="0" marL="0">
              <a:buNone/>
            </a:pPr>
            <a:r>
              <a:rPr lang="en-US" sz="3000" b="1" dirty="0">
                <a:solidFill>
                  <a:schemeClr val="tx1"/>
                </a:solidFill>
              </a:rPr>
              <a:t>Honest limits, and what we would do next</a:t>
            </a:r>
            <a:endParaRPr lang="en-US" sz="3000" dirty="0"/>
          </a:p>
        </p:txBody>
      </p:sp>
      <p:sp>
        <p:nvSpPr>
          <p:cNvPr id="3" name="slide12-lh"/>
          <p:cNvSpPr txBox="1"/>
          <p:nvPr/>
        </p:nvSpPr>
        <p:spPr>
          <a:xfrm>
            <a:off x="594360" y="1417320"/>
            <a:ext cx="5272888" cy="41148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What it is not, and where it is weak</a:t>
            </a:r>
            <a:endParaRPr lang="en-US" sz="1900" dirty="0"/>
          </a:p>
        </p:txBody>
      </p:sp>
      <p:sp>
        <p:nvSpPr>
          <p:cNvPr id="4" name="slide12-l"/>
          <p:cNvSpPr txBox="1"/>
          <p:nvPr/>
        </p:nvSpPr>
        <p:spPr>
          <a:xfrm>
            <a:off x="594360" y="1920240"/>
            <a:ext cx="5272888" cy="4206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 licensed or regulated service: the category limits are placeholders, nothing has been reviewed by a regulator</a:t>
            </a:r>
            <a:endParaRPr lang="en-US" sz="1400" dirty="0"/>
          </a:p>
          <a:p>
            <a:pPr marL="342900" indent="-342900">
              <a:spcAft>
                <a:spcPts val="600"/>
              </a:spcAft>
              <a:buSzPct val="100000"/>
              <a:buChar char="•"/>
            </a:pPr>
            <a:r>
              <a:rPr lang="en-US" sz="1400" dirty="0">
                <a:solidFill>
                  <a:schemeClr val="tx1"/>
                </a:solidFill>
              </a:rPr>
              <a:t>The Risk Game has no psychometric validation; its effect is bounded and it has kill switches</a:t>
            </a:r>
            <a:endParaRPr lang="en-US" sz="1400" dirty="0"/>
          </a:p>
          <a:p>
            <a:pPr marL="342900" indent="-342900">
              <a:spcAft>
                <a:spcPts val="600"/>
              </a:spcAft>
              <a:buSzPct val="100000"/>
              <a:buChar char="•"/>
            </a:pPr>
            <a:r>
              <a:rPr lang="en-US" sz="1400" dirty="0">
                <a:solidFill>
                  <a:schemeClr val="tx1"/>
                </a:solidFill>
              </a:rPr>
              <a:t>The simulation replays about 19 years of history; it is not a probability</a:t>
            </a:r>
            <a:endParaRPr lang="en-US" sz="1400" dirty="0"/>
          </a:p>
          <a:p>
            <a:pPr marL="342900" indent="-342900">
              <a:spcAft>
                <a:spcPts val="600"/>
              </a:spcAft>
              <a:buSzPct val="100000"/>
              <a:buChar char="•"/>
            </a:pPr>
            <a:r>
              <a:rPr lang="en-US" sz="1400" dirty="0">
                <a:solidFill>
                  <a:schemeClr val="tx1"/>
                </a:solidFill>
              </a:rPr>
              <a:t>Prices: a Yahoo Finance snapshot accepted for the competition only; the live site runs on saved real prices</a:t>
            </a:r>
            <a:endParaRPr lang="en-US" sz="1400" dirty="0"/>
          </a:p>
          <a:p>
            <a:pPr marL="342900" indent="-342900">
              <a:spcAft>
                <a:spcPts val="600"/>
              </a:spcAft>
              <a:buSzPct val="100000"/>
              <a:buChar char="•"/>
            </a:pPr>
            <a:r>
              <a:rPr lang="en-US" sz="1400" dirty="0">
                <a:solidFill>
                  <a:schemeClr val="tx1"/>
                </a:solidFill>
              </a:rPr>
              <a:t>English only; Interactive Brokers only; the blockchain is a test network</a:t>
            </a:r>
            <a:endParaRPr lang="en-US" sz="1400" dirty="0"/>
          </a:p>
          <a:p>
            <a:pPr marL="342900" indent="-342900">
              <a:spcAft>
                <a:spcPts val="600"/>
              </a:spcAft>
              <a:buSzPct val="100000"/>
              <a:buChar char="•"/>
            </a:pPr>
            <a:r>
              <a:rPr lang="en-US" sz="1400" dirty="0">
                <a:solidFill>
                  <a:schemeClr val="tx1"/>
                </a:solidFill>
              </a:rPr>
              <a:t>No third-party penetration test; the newest advisor prompt not yet live red-teamed</a:t>
            </a:r>
            <a:endParaRPr lang="en-US" sz="1400" dirty="0"/>
          </a:p>
        </p:txBody>
      </p:sp>
      <p:sp>
        <p:nvSpPr>
          <p:cNvPr id="5" name="slide12-rh"/>
          <p:cNvSpPr txBox="1"/>
          <p:nvPr/>
        </p:nvSpPr>
        <p:spPr>
          <a:xfrm>
            <a:off x="6324448" y="1417320"/>
            <a:ext cx="5272888" cy="41148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Roadmap, in order</a:t>
            </a:r>
            <a:endParaRPr lang="en-US" sz="1900" dirty="0"/>
          </a:p>
        </p:txBody>
      </p:sp>
      <p:sp>
        <p:nvSpPr>
          <p:cNvPr id="6" name="slide12-r"/>
          <p:cNvSpPr txBox="1"/>
          <p:nvPr/>
        </p:nvSpPr>
        <p:spPr>
          <a:xfrm>
            <a:off x="6324448" y="1920240"/>
            <a:ext cx="5272888" cy="4206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Institutional calibration of the category table; periodic suitability review</a:t>
            </a:r>
            <a:endParaRPr lang="en-US" sz="1400" dirty="0"/>
          </a:p>
          <a:p>
            <a:pPr marL="342900" indent="-342900">
              <a:spcAft>
                <a:spcPts val="600"/>
              </a:spcAft>
              <a:buSzPct val="100000"/>
              <a:buChar char="•"/>
            </a:pPr>
            <a:r>
              <a:rPr lang="en-US" sz="1400" dirty="0">
                <a:solidFill>
                  <a:schemeClr val="tx1"/>
                </a:solidFill>
              </a:rPr>
              <a:t>Validate the Risk Game on a real sample; make the result of record non-replayable</a:t>
            </a:r>
            <a:endParaRPr lang="en-US" sz="1400" dirty="0"/>
          </a:p>
          <a:p>
            <a:pPr marL="342900" indent="-342900">
              <a:spcAft>
                <a:spcPts val="600"/>
              </a:spcAft>
              <a:buSzPct val="100000"/>
              <a:buChar char="•"/>
            </a:pPr>
            <a:r>
              <a:rPr lang="en-US" sz="1400" dirty="0">
                <a:solidFill>
                  <a:schemeClr val="tx1"/>
                </a:solidFill>
              </a:rPr>
              <a:t>Licensed market data, FX and tax awareness</a:t>
            </a:r>
            <a:endParaRPr lang="en-US" sz="1400" dirty="0"/>
          </a:p>
          <a:p>
            <a:pPr marL="342900" indent="-342900">
              <a:spcAft>
                <a:spcPts val="600"/>
              </a:spcAft>
              <a:buSzPct val="100000"/>
              <a:buChar char="•"/>
            </a:pPr>
            <a:r>
              <a:rPr lang="en-US" sz="1400" dirty="0">
                <a:solidFill>
                  <a:schemeClr val="tx1"/>
                </a:solidFill>
              </a:rPr>
              <a:t>The same salted fingerprint on FISCO BCOS, with a countersigning authority</a:t>
            </a:r>
            <a:endParaRPr lang="en-US" sz="1400" dirty="0"/>
          </a:p>
          <a:p>
            <a:pPr marL="342900" indent="-342900">
              <a:spcAft>
                <a:spcPts val="600"/>
              </a:spcAft>
              <a:buSzPct val="100000"/>
              <a:buChar char="•"/>
            </a:pPr>
            <a:r>
              <a:rPr lang="en-US" sz="1400" dirty="0">
                <a:solidFill>
                  <a:schemeClr val="tx1"/>
                </a:solidFill>
              </a:rPr>
              <a:t>Chinese-language advice with its own reviewed guard; more brokers</a:t>
            </a:r>
            <a:endParaRPr lang="en-US" sz="1400" dirty="0"/>
          </a:p>
          <a:p>
            <a:pPr marL="342900" indent="-342900">
              <a:spcAft>
                <a:spcPts val="600"/>
              </a:spcAft>
              <a:buSzPct val="100000"/>
              <a:buChar char="•"/>
            </a:pPr>
            <a:r>
              <a:rPr lang="en-US" sz="1400" dirty="0">
                <a:solidFill>
                  <a:schemeClr val="tx1"/>
                </a:solidFill>
              </a:rPr>
              <a:t>Third-party penetration test, monitoring, a per-user AI spending cap</a:t>
            </a:r>
            <a:endParaRPr lang="en-US" sz="1400" dirty="0"/>
          </a:p>
        </p:txBody>
      </p:sp>
      <p:sp>
        <p:nvSpPr>
          <p:cNvPr id="25" name="Slide Number Placeholder 0"/>
          <p:cNvSpPr>
            <a:spLocks noGrp="1"/>
          </p:cNvSpPr>
          <p:nvPr>
            <p:ph type="sldNum" sz="quarter" idx="4294967295"/>
          </p:nvPr>
        </p:nvSpPr>
        <p:spPr>
          <a:xfrm>
            <a:off x="11048695" y="6473952"/>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777777"/>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lide13-title"/>
          <p:cNvSpPr txBox="1"/>
          <p:nvPr/>
        </p:nvSpPr>
        <p:spPr>
          <a:xfrm>
            <a:off x="594360" y="548640"/>
            <a:ext cx="11002975"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Try it yourself</a:t>
            </a:r>
            <a:endParaRPr lang="en-US" sz="3000" dirty="0"/>
          </a:p>
        </p:txBody>
      </p:sp>
      <p:sp>
        <p:nvSpPr>
          <p:cNvPr id="3" name="slide13-lines"/>
          <p:cNvSpPr txBox="1"/>
          <p:nvPr/>
        </p:nvSpPr>
        <p:spPr>
          <a:xfrm>
            <a:off x="594360" y="1554480"/>
            <a:ext cx="11002975" cy="2377440"/>
          </a:xfrm>
          <a:prstGeom prst="rect">
            <a:avLst/>
          </a:prstGeom>
          <a:noFill/>
          <a:ln/>
        </p:spPr>
        <p:txBody>
          <a:bodyPr wrap="square" lIns="0" tIns="0" rIns="0" bIns="0" rtlCol="0" anchor="t"/>
          <a:lstStyle/>
          <a:p>
            <a:pPr indent="0" marL="0">
              <a:spcAft>
                <a:spcPts val="1000"/>
              </a:spcAft>
              <a:buNone/>
            </a:pPr>
            <a:r>
              <a:rPr lang="en-US" sz="1500" dirty="0">
                <a:solidFill>
                  <a:srgbClr val="E8E8E8"/>
                </a:solidFill>
              </a:rPr>
              <a:t>Live site: www.egoquant.app · API and interactive docs: web-production-59960.up.railway.app/docs</a:t>
            </a:r>
            <a:endParaRPr lang="en-US" sz="1500" dirty="0"/>
          </a:p>
          <a:p>
            <a:pPr indent="0" marL="0">
              <a:spcAft>
                <a:spcPts val="1000"/>
              </a:spcAft>
              <a:buNone/>
            </a:pPr>
            <a:r>
              <a:rPr lang="en-US" sz="1500" dirty="0">
                <a:solidFill>
                  <a:srgbClr val="E8E8E8"/>
                </a:solidFill>
              </a:rPr>
              <a:t>Two minutes, no account: Verify a report → Use the demo report → Try a tampered copy</a:t>
            </a:r>
            <a:endParaRPr lang="en-US" sz="1500" dirty="0"/>
          </a:p>
          <a:p>
            <a:pPr indent="0" marL="0">
              <a:spcAft>
                <a:spcPts val="1000"/>
              </a:spcAft>
              <a:buNone/>
            </a:pPr>
            <a:r>
              <a:rPr lang="en-US" sz="1500" dirty="0">
                <a:solidFill>
                  <a:srgbClr val="E8E8E8"/>
                </a:solidFill>
              </a:rPr>
              <a:t>Ten minutes with the demo account: profile, Risk Game, investments, portfolio, trade check, confirm and seal, verify</a:t>
            </a:r>
            <a:endParaRPr lang="en-US" sz="1500" dirty="0"/>
          </a:p>
          <a:p>
            <a:pPr indent="0" marL="0">
              <a:spcAft>
                <a:spcPts val="1000"/>
              </a:spcAft>
              <a:buNone/>
            </a:pPr>
            <a:r>
              <a:rPr lang="en-US" sz="1500" dirty="0">
                <a:solidFill>
                  <a:srgbClr val="E8E8E8"/>
                </a:solidFill>
              </a:rPr>
              <a:t>Documents 01 to 09 (summary, security and compliance, methods, testing and evidence, user guide, limitations, judges' questions, API reference, on-chain seal); code at the tag submission-20oct in both repositories</a:t>
            </a:r>
            <a:endParaRPr lang="en-US" sz="1500" dirty="0"/>
          </a:p>
        </p:txBody>
      </p:sp>
      <p:sp>
        <p:nvSpPr>
          <p:cNvPr id="4" name="slide13-closing"/>
          <p:cNvSpPr txBox="1"/>
          <p:nvPr/>
        </p:nvSpPr>
        <p:spPr>
          <a:xfrm>
            <a:off x="594360" y="4206240"/>
            <a:ext cx="11002975" cy="1280160"/>
          </a:xfrm>
          <a:prstGeom prst="rect">
            <a:avLst/>
          </a:prstGeom>
          <a:noFill/>
          <a:ln/>
        </p:spPr>
        <p:txBody>
          <a:bodyPr wrap="square" lIns="0" tIns="0" rIns="0" bIns="0" rtlCol="0" anchor="t"/>
          <a:lstStyle/>
          <a:p>
            <a:pPr indent="0" marL="0">
              <a:buNone/>
            </a:pPr>
            <a:r>
              <a:rPr lang="en-US" sz="2400" i="1" dirty="0">
                <a:solidFill>
                  <a:srgbClr val="FFFFFF"/>
                </a:solidFill>
                <a:latin typeface="Cambria" pitchFamily="34" charset="0"/>
                <a:ea typeface="Cambria" pitchFamily="34" charset="-122"/>
                <a:cs typeface="Cambria" pitchFamily="34" charset="-120"/>
              </a:rPr>
              <a:t>Every limit is a proposal, every simulation is hypothetical, and every claim names a file, a test or a measured number. Thank you.</a:t>
            </a:r>
            <a:endParaRPr lang="en-US" sz="2400" dirty="0"/>
          </a:p>
        </p:txBody>
      </p:sp>
      <p:sp>
        <p:nvSpPr>
          <p:cNvPr id="25" name="Slide Number Placeholder 0"/>
          <p:cNvSpPr>
            <a:spLocks noGrp="1"/>
          </p:cNvSpPr>
          <p:nvPr>
            <p:ph type="sldNum" sz="quarter" idx="4294967295"/>
          </p:nvPr>
        </p:nvSpPr>
        <p:spPr>
          <a:xfrm>
            <a:off x="11048695" y="6473952"/>
            <a:ext cx="54864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A9A9A"/>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EgoQuant">
  <a:themeElements>
    <a:clrScheme name="EgoQuant">
      <a:dk1>
        <a:srgbClr val="111111"/>
      </a:dk1>
      <a:lt1>
        <a:srgbClr val="FFFFFF"/>
      </a:lt1>
      <a:dk2>
        <a:srgbClr val="333333"/>
      </a:dk2>
      <a:lt2>
        <a:srgbClr val="F1F1F1"/>
      </a:lt2>
      <a:accent1>
        <a:srgbClr val="111111"/>
      </a:accent1>
      <a:accent2>
        <a:srgbClr val="555555"/>
      </a:accent2>
      <a:accent3>
        <a:srgbClr val="888888"/>
      </a:accent3>
      <a:accent4>
        <a:srgbClr val="BBBBBB"/>
      </a:accent4>
      <a:accent5>
        <a:srgbClr val="DDDDDD"/>
      </a:accent5>
      <a:accent6>
        <a:srgbClr val="222222"/>
      </a:accent6>
      <a:hlink>
        <a:srgbClr val="0B3D91"/>
      </a:hlink>
      <a:folHlink>
        <a:srgbClr val="555555"/>
      </a:folHlink>
    </a:clrScheme>
    <a:fontScheme name="EgoQua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EgoQuant: a wealth-advisory agent you can check</dc:title>
  <dc:subject>2026 Shenzhen FinTechathon · WeBank International Track · Topic B: Wealth Advisory Agent</dc:subject>
  <dc:creator>Team EgoQuant</dc:creator>
  <cp:lastModifiedBy>Team EgoQuant</cp:lastModifiedBy>
  <cp:revision>1</cp:revision>
  <dcterms:created xsi:type="dcterms:W3CDTF">2026-10-20T14:29:10Z</dcterms:created>
  <dcterms:modified xsi:type="dcterms:W3CDTF">2026-10-20T14:29:10Z</dcterms:modified>
</cp:coreProperties>
</file>